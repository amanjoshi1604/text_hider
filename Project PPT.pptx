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2"/>
  </p:notesMasterIdLst>
  <p:sldIdLst>
    <p:sldId id="257" r:id="rId5"/>
    <p:sldId id="258" r:id="rId6"/>
    <p:sldId id="259" r:id="rId7"/>
    <p:sldId id="261" r:id="rId8"/>
    <p:sldId id="272" r:id="rId9"/>
    <p:sldId id="273" r:id="rId10"/>
    <p:sldId id="262" r:id="rId11"/>
    <p:sldId id="263" r:id="rId12"/>
    <p:sldId id="268" r:id="rId13"/>
    <p:sldId id="269" r:id="rId14"/>
    <p:sldId id="270" r:id="rId15"/>
    <p:sldId id="271" r:id="rId16"/>
    <p:sldId id="264" r:id="rId17"/>
    <p:sldId id="265" r:id="rId18"/>
    <p:sldId id="267" r:id="rId19"/>
    <p:sldId id="266"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n Joshi" initials="AJ" lastIdx="1" clrIdx="0">
    <p:extLst>
      <p:ext uri="{19B8F6BF-5375-455C-9EA6-DF929625EA0E}">
        <p15:presenceInfo xmlns:p15="http://schemas.microsoft.com/office/powerpoint/2012/main" userId="f8918f20a4c2d7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48A1A0-8608-A041-B296-EF2FA00C3C98}" v="19" dt="2023-06-21T07:54:05.981"/>
    <p1510:client id="{3D286AC7-ACFE-4308-9D88-3177AB8CCD44}" v="1" dt="2023-06-21T05:32:19.960"/>
    <p1510:client id="{E2CC273F-D80D-4157-BF67-F4B85014A9B3}" v="68" vWet="69" dt="2023-06-21T07:50:16.3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26-11-2023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11/26/2023</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11/26/2023</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11/26/2023</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11/26/2023</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11/26/2023</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11/26/2023</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11/26/2023</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11/26/2023</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11/26/2023</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11/26/2023</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11/26/2023</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11/26/2023</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mailto:joshiaman1604@gmail.com" TargetMode="Externa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hyperlink" Target="http://www.wikipedia.com/" TargetMode="External"/><Relationship Id="rId2" Type="http://schemas.openxmlformats.org/officeDocument/2006/relationships/hyperlink" Target="http://www.google.com/" TargetMode="External"/><Relationship Id="rId1" Type="http://schemas.openxmlformats.org/officeDocument/2006/relationships/slideLayout" Target="../slideLayouts/slideLayout2.xml"/><Relationship Id="rId6" Type="http://schemas.openxmlformats.org/officeDocument/2006/relationships/hyperlink" Target="https://skillsbuild.edunetworld.com/courses/cs/steganography-hiding-message-in-an-image/" TargetMode="External"/><Relationship Id="rId5" Type="http://schemas.openxmlformats.org/officeDocument/2006/relationships/hyperlink" Target="https://skillsbuild.edunetworld.com/study-material-cyber-security/" TargetMode="External"/><Relationship Id="rId4" Type="http://schemas.openxmlformats.org/officeDocument/2006/relationships/hyperlink" Target="http://www.youtube.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914400"/>
            <a:ext cx="10993549" cy="685800"/>
          </a:xfrm>
        </p:spPr>
        <p:txBody>
          <a:bodyPr>
            <a:normAutofit/>
          </a:bodyPr>
          <a:lstStyle/>
          <a:p>
            <a:r>
              <a:rPr lang="en-GB" sz="3600" dirty="0"/>
              <a:t>Student </a:t>
            </a:r>
            <a:r>
              <a:rPr lang="en-GB" dirty="0"/>
              <a:t>Details</a:t>
            </a:r>
            <a:endParaRPr lang="en-US" dirty="0"/>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1600201"/>
            <a:ext cx="10993546" cy="2338754"/>
          </a:xfrm>
        </p:spPr>
        <p:txBody>
          <a:bodyPr>
            <a:normAutofit/>
          </a:bodyPr>
          <a:lstStyle/>
          <a:p>
            <a:r>
              <a:rPr lang="en-GB" dirty="0"/>
              <a:t>Name : </a:t>
            </a:r>
            <a:r>
              <a:rPr lang="en-GB" dirty="0" err="1"/>
              <a:t>aman</a:t>
            </a:r>
            <a:r>
              <a:rPr lang="en-GB" dirty="0"/>
              <a:t> </a:t>
            </a:r>
            <a:r>
              <a:rPr lang="en-GB" dirty="0" err="1"/>
              <a:t>joshi</a:t>
            </a:r>
            <a:endParaRPr lang="en-GB" dirty="0"/>
          </a:p>
          <a:p>
            <a:r>
              <a:rPr lang="en-GB" dirty="0" err="1"/>
              <a:t>Skillsbuild</a:t>
            </a:r>
            <a:r>
              <a:rPr lang="en-GB" dirty="0"/>
              <a:t> email id : </a:t>
            </a:r>
            <a:r>
              <a:rPr lang="en-GB" dirty="0">
                <a:hlinkClick r:id="rId2"/>
              </a:rPr>
              <a:t>joshiaman1604@gmail.com</a:t>
            </a:r>
            <a:endParaRPr lang="en-GB" dirty="0"/>
          </a:p>
          <a:p>
            <a:r>
              <a:rPr lang="en-GB" dirty="0"/>
              <a:t>College name : Jabalpur engineering college</a:t>
            </a:r>
          </a:p>
          <a:p>
            <a:r>
              <a:rPr lang="en-GB" dirty="0"/>
              <a:t>College </a:t>
            </a:r>
            <a:r>
              <a:rPr lang="en-GB" dirty="0" err="1"/>
              <a:t>statE</a:t>
            </a:r>
            <a:r>
              <a:rPr lang="en-GB" dirty="0"/>
              <a:t> : </a:t>
            </a:r>
            <a:r>
              <a:rPr lang="en-GB" dirty="0" err="1"/>
              <a:t>madhyA</a:t>
            </a:r>
            <a:r>
              <a:rPr lang="en-GB" dirty="0"/>
              <a:t> </a:t>
            </a:r>
            <a:r>
              <a:rPr lang="en-GB" dirty="0" err="1"/>
              <a:t>pradesh</a:t>
            </a:r>
            <a:endParaRPr lang="en-GB" dirty="0"/>
          </a:p>
          <a:p>
            <a:r>
              <a:rPr lang="en-GB" dirty="0"/>
              <a:t>Internship domain : cyber security</a:t>
            </a:r>
          </a:p>
          <a:p>
            <a:r>
              <a:rPr lang="en-GB" dirty="0"/>
              <a:t>Internship start and end date : </a:t>
            </a:r>
            <a:r>
              <a:rPr lang="en-US" dirty="0"/>
              <a:t>13th October 2023 to 26th November 2023</a:t>
            </a:r>
            <a:endParaRPr lang="en-GB" dirty="0"/>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448733" y="4053579"/>
            <a:ext cx="11260667" cy="2338754"/>
          </a:xfrm>
          <a:prstGeom prst="rect">
            <a:avLst/>
          </a:prstGeom>
          <a:ln>
            <a:noFill/>
          </a:ln>
        </p:spPr>
      </p:pic>
      <p:pic>
        <p:nvPicPr>
          <p:cNvPr id="7" name="Picture 6">
            <a:extLst>
              <a:ext uri="{FF2B5EF4-FFF2-40B4-BE49-F238E27FC236}">
                <a16:creationId xmlns:a16="http://schemas.microsoft.com/office/drawing/2014/main" id="{1C2C886E-6552-0EEA-60B1-11183FFF7163}"/>
              </a:ext>
            </a:extLst>
          </p:cNvPr>
          <p:cNvPicPr>
            <a:picLocks noChangeAspect="1"/>
          </p:cNvPicPr>
          <p:nvPr/>
        </p:nvPicPr>
        <p:blipFill>
          <a:blip r:embed="rId4"/>
          <a:stretch>
            <a:fillRect/>
          </a:stretch>
        </p:blipFill>
        <p:spPr>
          <a:xfrm>
            <a:off x="9237026" y="1600200"/>
            <a:ext cx="1313561" cy="1543534"/>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p:txBody>
          <a:bodyPr>
            <a:normAutofit/>
          </a:bodyPr>
          <a:lstStyle/>
          <a:p>
            <a:r>
              <a:rPr lang="en-GB"/>
              <a:t>PROJECT TITLE/Problem Statement</a:t>
            </a:r>
            <a:br>
              <a:rPr lang="en-GB"/>
            </a:br>
            <a:endParaRPr lang="en-US"/>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p:txBody>
          <a:bodyPr/>
          <a:lstStyle/>
          <a:p>
            <a:pPr marL="0" indent="0">
              <a:buNone/>
            </a:pPr>
            <a:r>
              <a:rPr lang="en-US" b="0" i="0" dirty="0">
                <a:solidFill>
                  <a:schemeClr val="tx1">
                    <a:lumMod val="65000"/>
                    <a:lumOff val="35000"/>
                  </a:schemeClr>
                </a:solidFill>
                <a:effectLst/>
                <a:latin typeface="DM Sans" panose="020F0502020204030204" pitchFamily="2" charset="0"/>
              </a:rPr>
              <a:t>The former consists of linguistic or language forms of hidden writing. The later, such as invisible ink, try of hide messages physically. One disadvantage of linguistic steganography is that users must equip themselves to have a good knowledge of linguistry. In recent years, everything is trending toward digitization. And with the development of the internet technology, digital media can be transmitted conveniently over the network. Therefore, messages can be secretly carried by digital media by using the steganography techniques, and then be transmitted through the internet rapidly Steganography is the art of hiding the fact that communication is taking place, by hiding information in other information. Many different carrier file formats can be used, but digital images are the most popular because of their frequency on the internet. For hiding secret information in images, there exists a large variety of steganography techniques some are more complex than others and all of them have respective strong and weak points. So we prepare this application, to make the information hiding more simple and user friendly.</a:t>
            </a:r>
            <a:endParaRPr lang="en-US" dirty="0">
              <a:solidFill>
                <a:schemeClr val="tx1">
                  <a:lumMod val="65000"/>
                  <a:lumOff val="35000"/>
                </a:schemeClr>
              </a:solidFill>
            </a:endParaRPr>
          </a:p>
        </p:txBody>
      </p:sp>
    </p:spTree>
    <p:extLst>
      <p:ext uri="{BB962C8B-B14F-4D97-AF65-F5344CB8AC3E}">
        <p14:creationId xmlns:p14="http://schemas.microsoft.com/office/powerpoint/2010/main" val="442835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p:txBody>
          <a:bodyPr anchor="ctr"/>
          <a:lstStyle/>
          <a:p>
            <a:r>
              <a:rPr lang="en-US"/>
              <a:t>AGENDA</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p:txBody>
          <a:bodyPr>
            <a:normAutofit/>
          </a:bodyPr>
          <a:lstStyle/>
          <a:p>
            <a:pPr algn="l"/>
            <a:r>
              <a:rPr lang="en-US" sz="1600" b="0" i="0" dirty="0">
                <a:solidFill>
                  <a:srgbClr val="000000"/>
                </a:solidFill>
                <a:effectLst/>
                <a:latin typeface="DM Sans" pitchFamily="2" charset="0"/>
              </a:rPr>
              <a:t>The goal of steganography is covert communication. So, a fundamental requirement of this steganography system is that the hider message carried by </a:t>
            </a:r>
            <a:r>
              <a:rPr lang="en-US" sz="1600" b="0" i="0" dirty="0" err="1">
                <a:solidFill>
                  <a:srgbClr val="000000"/>
                </a:solidFill>
                <a:effectLst/>
                <a:latin typeface="DM Sans" pitchFamily="2" charset="0"/>
              </a:rPr>
              <a:t>stego</a:t>
            </a:r>
            <a:r>
              <a:rPr lang="en-US" sz="1600" b="0" i="0" dirty="0">
                <a:solidFill>
                  <a:srgbClr val="000000"/>
                </a:solidFill>
                <a:effectLst/>
                <a:latin typeface="DM Sans" pitchFamily="2" charset="0"/>
              </a:rPr>
              <a:t>-media should not be sensible to human beings. </a:t>
            </a:r>
          </a:p>
          <a:p>
            <a:pPr algn="l"/>
            <a:r>
              <a:rPr lang="en-US" sz="1600" b="0" i="0" dirty="0">
                <a:solidFill>
                  <a:srgbClr val="000000"/>
                </a:solidFill>
                <a:effectLst/>
                <a:latin typeface="DM Sans" pitchFamily="2" charset="0"/>
              </a:rPr>
              <a:t>The other goad of steganography is to avoid drawing suspicion to the existence of a hidden message. This approach of information hiding technique has recently became important in a number of application area</a:t>
            </a:r>
          </a:p>
          <a:p>
            <a:pPr algn="l"/>
            <a:r>
              <a:rPr lang="en-US" sz="1600" b="0" i="0" dirty="0">
                <a:solidFill>
                  <a:srgbClr val="000000"/>
                </a:solidFill>
                <a:effectLst/>
                <a:latin typeface="DM Sans" pitchFamily="2" charset="0"/>
              </a:rPr>
              <a:t>This project has following objectives: </a:t>
            </a:r>
          </a:p>
          <a:p>
            <a:pPr lvl="1">
              <a:buFont typeface="Wingdings" panose="05000000000000000000" pitchFamily="2" charset="2"/>
              <a:buChar char="Ø"/>
            </a:pPr>
            <a:r>
              <a:rPr lang="en-US" sz="1600" b="0" i="0" dirty="0">
                <a:solidFill>
                  <a:srgbClr val="000000"/>
                </a:solidFill>
                <a:effectLst/>
                <a:latin typeface="DM Sans" pitchFamily="2" charset="0"/>
              </a:rPr>
              <a:t>To product security tool based on steganography techniques. </a:t>
            </a:r>
          </a:p>
          <a:p>
            <a:pPr lvl="1">
              <a:buFont typeface="Wingdings" panose="05000000000000000000" pitchFamily="2" charset="2"/>
              <a:buChar char="Ø"/>
            </a:pPr>
            <a:r>
              <a:rPr lang="en-US" sz="1600" b="0" i="0" dirty="0">
                <a:solidFill>
                  <a:srgbClr val="000000"/>
                </a:solidFill>
                <a:effectLst/>
                <a:latin typeface="DM Sans" pitchFamily="2" charset="0"/>
              </a:rPr>
              <a:t>To explore techniques of hiding data using encryption module of this project </a:t>
            </a:r>
          </a:p>
          <a:p>
            <a:pPr lvl="1">
              <a:buFont typeface="Wingdings" panose="05000000000000000000" pitchFamily="2" charset="2"/>
              <a:buChar char="Ø"/>
            </a:pPr>
            <a:r>
              <a:rPr lang="en-US" sz="1600" b="0" i="0" dirty="0">
                <a:solidFill>
                  <a:srgbClr val="000000"/>
                </a:solidFill>
                <a:effectLst/>
                <a:latin typeface="DM Sans" pitchFamily="2" charset="0"/>
              </a:rPr>
              <a:t>To extract techniques of getting secret data using decryption module.</a:t>
            </a:r>
          </a:p>
          <a:p>
            <a:endParaRPr lang="en-US" dirty="0"/>
          </a:p>
        </p:txBody>
      </p:sp>
    </p:spTree>
    <p:extLst>
      <p:ext uri="{BB962C8B-B14F-4D97-AF65-F5344CB8AC3E}">
        <p14:creationId xmlns:p14="http://schemas.microsoft.com/office/powerpoint/2010/main" val="2116825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p:txBody>
          <a:bodyPr anchor="ctr"/>
          <a:lstStyle/>
          <a:p>
            <a:r>
              <a:rPr lang="en-US" dirty="0"/>
              <a:t>PROJECT  OVERVIEW</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2" y="1758462"/>
            <a:ext cx="11029615" cy="3675184"/>
          </a:xfrm>
        </p:spPr>
        <p:txBody>
          <a:bodyPr>
            <a:noAutofit/>
          </a:bodyPr>
          <a:lstStyle/>
          <a:p>
            <a:pPr algn="l"/>
            <a:r>
              <a:rPr lang="en-US" sz="1600" b="0" i="0" dirty="0">
                <a:solidFill>
                  <a:srgbClr val="000000"/>
                </a:solidFill>
                <a:effectLst/>
                <a:latin typeface="DM Sans" pitchFamily="2" charset="0"/>
              </a:rPr>
              <a:t>The main goal of this projects it to communicate securely in a completely undetectable manner and to avoid drawing suspicion to the transmission of a hider data. There has been a rapid growth of interest in steganography for two reasons: </a:t>
            </a:r>
          </a:p>
          <a:p>
            <a:pPr lvl="1">
              <a:buFont typeface="Wingdings" panose="05000000000000000000" pitchFamily="2" charset="2"/>
              <a:buChar char="Ø"/>
            </a:pPr>
            <a:r>
              <a:rPr lang="en-US" sz="1600" b="0" i="0" dirty="0">
                <a:solidFill>
                  <a:srgbClr val="000000"/>
                </a:solidFill>
                <a:effectLst/>
                <a:latin typeface="DM Sans" pitchFamily="2" charset="0"/>
              </a:rPr>
              <a:t>The publishing and broadcasting industries have become interested in techniques for hiding encrypted copyright marks and serial numbers in digital films, audio recordings, books and multimedia products Moves by various governments to restrict the availability of encryption services have motivated people to study methods by which private messages can be embedded in seemingly innocuous cover messages. </a:t>
            </a:r>
          </a:p>
          <a:p>
            <a:pPr lvl="1">
              <a:buFont typeface="Wingdings" panose="05000000000000000000" pitchFamily="2" charset="2"/>
              <a:buChar char="Ø"/>
            </a:pPr>
            <a:r>
              <a:rPr lang="en-US" sz="1600" b="0" i="0" dirty="0">
                <a:solidFill>
                  <a:srgbClr val="000000"/>
                </a:solidFill>
                <a:effectLst/>
                <a:latin typeface="DM Sans" pitchFamily="2" charset="0"/>
              </a:rPr>
              <a:t>The basic model of steganography consists of Carrier, Message and password. Carrier is also known as cover-object, which the message is embedded and serves to hide the presence of the message.</a:t>
            </a:r>
          </a:p>
          <a:p>
            <a:pPr marL="324000" lvl="1" indent="0">
              <a:buNone/>
            </a:pPr>
            <a:r>
              <a:rPr lang="en-US" sz="1600" dirty="0">
                <a:solidFill>
                  <a:schemeClr val="tx1">
                    <a:lumMod val="95000"/>
                    <a:lumOff val="5000"/>
                  </a:schemeClr>
                </a:solidFill>
                <a:latin typeface="DM Sans" pitchFamily="2" charset="0"/>
              </a:rPr>
              <a:t>Basically, the model for steganography is shown on following figure:</a:t>
            </a:r>
          </a:p>
          <a:p>
            <a:pPr marL="0" indent="0">
              <a:buNone/>
            </a:pPr>
            <a:endParaRPr lang="en-US" sz="1600" dirty="0">
              <a:latin typeface="DM Sans" pitchFamily="2" charset="0"/>
            </a:endParaRPr>
          </a:p>
        </p:txBody>
      </p:sp>
      <p:pic>
        <p:nvPicPr>
          <p:cNvPr id="20" name="Picture 19">
            <a:extLst>
              <a:ext uri="{FF2B5EF4-FFF2-40B4-BE49-F238E27FC236}">
                <a16:creationId xmlns:a16="http://schemas.microsoft.com/office/drawing/2014/main" id="{56DE3F1F-697C-D672-DFEA-889183A206D3}"/>
              </a:ext>
            </a:extLst>
          </p:cNvPr>
          <p:cNvPicPr>
            <a:picLocks noChangeAspect="1"/>
          </p:cNvPicPr>
          <p:nvPr/>
        </p:nvPicPr>
        <p:blipFill>
          <a:blip r:embed="rId2"/>
          <a:stretch>
            <a:fillRect/>
          </a:stretch>
        </p:blipFill>
        <p:spPr>
          <a:xfrm>
            <a:off x="4515233" y="4967125"/>
            <a:ext cx="3161532" cy="1671829"/>
          </a:xfrm>
          <a:prstGeom prst="rect">
            <a:avLst/>
          </a:prstGeom>
        </p:spPr>
      </p:pic>
    </p:spTree>
    <p:extLst>
      <p:ext uri="{BB962C8B-B14F-4D97-AF65-F5344CB8AC3E}">
        <p14:creationId xmlns:p14="http://schemas.microsoft.com/office/powerpoint/2010/main" val="584653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5AB7FF-AB70-FE11-D802-B4843EC0C1C3}"/>
              </a:ext>
            </a:extLst>
          </p:cNvPr>
          <p:cNvSpPr>
            <a:spLocks noGrp="1"/>
          </p:cNvSpPr>
          <p:nvPr>
            <p:ph idx="1"/>
          </p:nvPr>
        </p:nvSpPr>
        <p:spPr>
          <a:xfrm>
            <a:off x="581192" y="800100"/>
            <a:ext cx="11029615" cy="5776546"/>
          </a:xfrm>
        </p:spPr>
        <p:txBody>
          <a:bodyPr>
            <a:noAutofit/>
          </a:bodyPr>
          <a:lstStyle/>
          <a:p>
            <a:r>
              <a:rPr lang="en-US" sz="1600" b="0" i="0" dirty="0">
                <a:solidFill>
                  <a:schemeClr val="tx1">
                    <a:lumMod val="95000"/>
                    <a:lumOff val="5000"/>
                  </a:schemeClr>
                </a:solidFill>
                <a:effectLst/>
                <a:latin typeface="DM Sans" pitchFamily="2" charset="0"/>
              </a:rPr>
              <a:t>Message is the data that the sender wishes to remain it confidential. It can be plain text, ciphertext, other image, or anything that can be embedded in a bit stream such as a copyright mark, a covert communication, or a serial number. Password is known as </a:t>
            </a:r>
            <a:r>
              <a:rPr lang="en-US" sz="1600" b="0" i="0" dirty="0" err="1">
                <a:solidFill>
                  <a:schemeClr val="tx1">
                    <a:lumMod val="95000"/>
                    <a:lumOff val="5000"/>
                  </a:schemeClr>
                </a:solidFill>
                <a:effectLst/>
                <a:latin typeface="DM Sans" pitchFamily="2" charset="0"/>
              </a:rPr>
              <a:t>stego</a:t>
            </a:r>
            <a:r>
              <a:rPr lang="en-US" sz="1600" b="0" i="0" dirty="0">
                <a:solidFill>
                  <a:schemeClr val="tx1">
                    <a:lumMod val="95000"/>
                    <a:lumOff val="5000"/>
                  </a:schemeClr>
                </a:solidFill>
                <a:effectLst/>
                <a:latin typeface="DM Sans" pitchFamily="2" charset="0"/>
              </a:rPr>
              <a:t>-key, which ensures that only recipient who know the corresponding decoding key will be able to extract the message from a cover-object. The cover-object with the secretly embedded message is then called the </a:t>
            </a:r>
            <a:r>
              <a:rPr lang="en-US" sz="1600" b="0" i="0" dirty="0" err="1">
                <a:solidFill>
                  <a:schemeClr val="tx1">
                    <a:lumMod val="95000"/>
                    <a:lumOff val="5000"/>
                  </a:schemeClr>
                </a:solidFill>
                <a:effectLst/>
                <a:latin typeface="DM Sans" pitchFamily="2" charset="0"/>
              </a:rPr>
              <a:t>Stego</a:t>
            </a:r>
            <a:r>
              <a:rPr lang="en-US" sz="1600" b="0" i="0" dirty="0">
                <a:solidFill>
                  <a:schemeClr val="tx1">
                    <a:lumMod val="95000"/>
                    <a:lumOff val="5000"/>
                  </a:schemeClr>
                </a:solidFill>
                <a:effectLst/>
                <a:latin typeface="DM Sans" pitchFamily="2" charset="0"/>
              </a:rPr>
              <a:t>-object. Recovering message from a </a:t>
            </a:r>
            <a:r>
              <a:rPr lang="en-US" sz="1600" b="0" i="0" dirty="0" err="1">
                <a:solidFill>
                  <a:schemeClr val="tx1">
                    <a:lumMod val="95000"/>
                    <a:lumOff val="5000"/>
                  </a:schemeClr>
                </a:solidFill>
                <a:effectLst/>
                <a:latin typeface="DM Sans" pitchFamily="2" charset="0"/>
              </a:rPr>
              <a:t>stego</a:t>
            </a:r>
            <a:r>
              <a:rPr lang="en-US" sz="1600" b="0" i="0" dirty="0">
                <a:solidFill>
                  <a:schemeClr val="tx1">
                    <a:lumMod val="95000"/>
                    <a:lumOff val="5000"/>
                  </a:schemeClr>
                </a:solidFill>
                <a:effectLst/>
                <a:latin typeface="DM Sans" pitchFamily="2" charset="0"/>
              </a:rPr>
              <a:t>-object requires the cover-object </a:t>
            </a:r>
            <a:r>
              <a:rPr lang="en-US" sz="1600" b="0" i="0" dirty="0" err="1">
                <a:solidFill>
                  <a:schemeClr val="tx1">
                    <a:lumMod val="95000"/>
                    <a:lumOff val="5000"/>
                  </a:schemeClr>
                </a:solidFill>
                <a:effectLst/>
                <a:latin typeface="DM Sans" pitchFamily="2" charset="0"/>
              </a:rPr>
              <a:t>itselt</a:t>
            </a:r>
            <a:r>
              <a:rPr lang="en-US" sz="1600" b="0" i="0" dirty="0">
                <a:solidFill>
                  <a:schemeClr val="tx1">
                    <a:lumMod val="95000"/>
                    <a:lumOff val="5000"/>
                  </a:schemeClr>
                </a:solidFill>
                <a:effectLst/>
                <a:latin typeface="DM Sans" pitchFamily="2" charset="0"/>
              </a:rPr>
              <a:t> and a corresponding decoding key if a </a:t>
            </a:r>
            <a:r>
              <a:rPr lang="en-US" sz="1600" b="0" i="0" dirty="0" err="1">
                <a:solidFill>
                  <a:schemeClr val="tx1">
                    <a:lumMod val="95000"/>
                    <a:lumOff val="5000"/>
                  </a:schemeClr>
                </a:solidFill>
                <a:effectLst/>
                <a:latin typeface="DM Sans" pitchFamily="2" charset="0"/>
              </a:rPr>
              <a:t>stego</a:t>
            </a:r>
            <a:r>
              <a:rPr lang="en-US" sz="1600" b="0" i="0" dirty="0">
                <a:solidFill>
                  <a:schemeClr val="tx1">
                    <a:lumMod val="95000"/>
                    <a:lumOff val="5000"/>
                  </a:schemeClr>
                </a:solidFill>
                <a:effectLst/>
                <a:latin typeface="DM Sans" pitchFamily="2" charset="0"/>
              </a:rPr>
              <a:t>-key was used during the encoding process. The original image may or may not be required in most applications to extract the message. </a:t>
            </a:r>
          </a:p>
          <a:p>
            <a:pPr algn="l"/>
            <a:r>
              <a:rPr lang="en-US" sz="1600" dirty="0">
                <a:solidFill>
                  <a:schemeClr val="tx1">
                    <a:lumMod val="95000"/>
                    <a:lumOff val="5000"/>
                  </a:schemeClr>
                </a:solidFill>
                <a:latin typeface="DM Sans" pitchFamily="2" charset="0"/>
              </a:rPr>
              <a:t>Recovering message from a </a:t>
            </a:r>
            <a:r>
              <a:rPr lang="en-US" sz="1600" dirty="0" err="1">
                <a:solidFill>
                  <a:schemeClr val="tx1">
                    <a:lumMod val="95000"/>
                    <a:lumOff val="5000"/>
                  </a:schemeClr>
                </a:solidFill>
                <a:latin typeface="DM Sans" pitchFamily="2" charset="0"/>
              </a:rPr>
              <a:t>stego</a:t>
            </a:r>
            <a:r>
              <a:rPr lang="en-US" sz="1600" dirty="0">
                <a:solidFill>
                  <a:schemeClr val="tx1">
                    <a:lumMod val="95000"/>
                    <a:lumOff val="5000"/>
                  </a:schemeClr>
                </a:solidFill>
                <a:latin typeface="DM Sans" pitchFamily="2" charset="0"/>
              </a:rPr>
              <a:t>-object requires the cover-object </a:t>
            </a:r>
            <a:r>
              <a:rPr lang="en-US" sz="1600" dirty="0" err="1">
                <a:solidFill>
                  <a:schemeClr val="tx1">
                    <a:lumMod val="95000"/>
                    <a:lumOff val="5000"/>
                  </a:schemeClr>
                </a:solidFill>
                <a:latin typeface="DM Sans" pitchFamily="2" charset="0"/>
              </a:rPr>
              <a:t>itselt</a:t>
            </a:r>
            <a:r>
              <a:rPr lang="en-US" sz="1600" dirty="0">
                <a:solidFill>
                  <a:schemeClr val="tx1">
                    <a:lumMod val="95000"/>
                    <a:lumOff val="5000"/>
                  </a:schemeClr>
                </a:solidFill>
                <a:latin typeface="DM Sans" pitchFamily="2" charset="0"/>
              </a:rPr>
              <a:t> and a corresponding decoding key if a </a:t>
            </a:r>
            <a:r>
              <a:rPr lang="en-US" sz="1600" dirty="0" err="1">
                <a:solidFill>
                  <a:schemeClr val="tx1">
                    <a:lumMod val="95000"/>
                    <a:lumOff val="5000"/>
                  </a:schemeClr>
                </a:solidFill>
                <a:latin typeface="DM Sans" pitchFamily="2" charset="0"/>
              </a:rPr>
              <a:t>stego</a:t>
            </a:r>
            <a:r>
              <a:rPr lang="en-US" sz="1600" dirty="0">
                <a:solidFill>
                  <a:schemeClr val="tx1">
                    <a:lumMod val="95000"/>
                    <a:lumOff val="5000"/>
                  </a:schemeClr>
                </a:solidFill>
                <a:latin typeface="DM Sans" pitchFamily="2" charset="0"/>
              </a:rPr>
              <a:t>-key was used during the encoding process. The original image may or may not be required in most applications to extract the message. </a:t>
            </a:r>
          </a:p>
          <a:p>
            <a:pPr algn="l"/>
            <a:r>
              <a:rPr lang="en-US" sz="1600" dirty="0">
                <a:solidFill>
                  <a:schemeClr val="tx1">
                    <a:lumMod val="95000"/>
                    <a:lumOff val="5000"/>
                  </a:schemeClr>
                </a:solidFill>
                <a:latin typeface="DM Sans" pitchFamily="2" charset="0"/>
              </a:rPr>
              <a:t>There are several suitable carriers below to be the cover-object: </a:t>
            </a:r>
          </a:p>
          <a:p>
            <a:pPr lvl="1">
              <a:buFont typeface="Wingdings" panose="05000000000000000000" pitchFamily="2" charset="2"/>
              <a:buChar char="Ø"/>
            </a:pPr>
            <a:r>
              <a:rPr lang="en-US" sz="1600" dirty="0">
                <a:solidFill>
                  <a:schemeClr val="tx1">
                    <a:lumMod val="95000"/>
                    <a:lumOff val="5000"/>
                  </a:schemeClr>
                </a:solidFill>
                <a:latin typeface="DM Sans" pitchFamily="2" charset="0"/>
              </a:rPr>
              <a:t>Network protocols such as TCP, IP and UDP </a:t>
            </a:r>
          </a:p>
          <a:p>
            <a:pPr lvl="1">
              <a:buFont typeface="Wingdings" panose="05000000000000000000" pitchFamily="2" charset="2"/>
              <a:buChar char="Ø"/>
            </a:pPr>
            <a:r>
              <a:rPr lang="en-US" sz="1600" dirty="0">
                <a:solidFill>
                  <a:schemeClr val="tx1">
                    <a:lumMod val="95000"/>
                    <a:lumOff val="5000"/>
                  </a:schemeClr>
                </a:solidFill>
                <a:latin typeface="DM Sans" pitchFamily="2" charset="0"/>
              </a:rPr>
              <a:t>Audio that using digital audio formats such as wav, midi, </a:t>
            </a:r>
            <a:r>
              <a:rPr lang="en-US" sz="1600" dirty="0" err="1">
                <a:solidFill>
                  <a:schemeClr val="tx1">
                    <a:lumMod val="95000"/>
                    <a:lumOff val="5000"/>
                  </a:schemeClr>
                </a:solidFill>
                <a:latin typeface="DM Sans" pitchFamily="2" charset="0"/>
              </a:rPr>
              <a:t>avi</a:t>
            </a:r>
            <a:r>
              <a:rPr lang="en-US" sz="1600" dirty="0">
                <a:solidFill>
                  <a:schemeClr val="tx1">
                    <a:lumMod val="95000"/>
                    <a:lumOff val="5000"/>
                  </a:schemeClr>
                </a:solidFill>
                <a:latin typeface="DM Sans" pitchFamily="2" charset="0"/>
              </a:rPr>
              <a:t>, mpeg, </a:t>
            </a:r>
            <a:r>
              <a:rPr lang="en-US" sz="1600" dirty="0" err="1">
                <a:solidFill>
                  <a:schemeClr val="tx1">
                    <a:lumMod val="95000"/>
                    <a:lumOff val="5000"/>
                  </a:schemeClr>
                </a:solidFill>
                <a:latin typeface="DM Sans" pitchFamily="2" charset="0"/>
              </a:rPr>
              <a:t>mpi</a:t>
            </a:r>
            <a:r>
              <a:rPr lang="en-US" sz="1600" dirty="0">
                <a:solidFill>
                  <a:schemeClr val="tx1">
                    <a:lumMod val="95000"/>
                    <a:lumOff val="5000"/>
                  </a:schemeClr>
                </a:solidFill>
                <a:latin typeface="DM Sans" pitchFamily="2" charset="0"/>
              </a:rPr>
              <a:t> and </a:t>
            </a:r>
            <a:r>
              <a:rPr lang="en-US" sz="1600" dirty="0" err="1">
                <a:solidFill>
                  <a:schemeClr val="tx1">
                    <a:lumMod val="95000"/>
                    <a:lumOff val="5000"/>
                  </a:schemeClr>
                </a:solidFill>
                <a:latin typeface="DM Sans" pitchFamily="2" charset="0"/>
              </a:rPr>
              <a:t>voc</a:t>
            </a:r>
            <a:r>
              <a:rPr lang="en-US" sz="1600" dirty="0">
                <a:solidFill>
                  <a:schemeClr val="tx1">
                    <a:lumMod val="95000"/>
                    <a:lumOff val="5000"/>
                  </a:schemeClr>
                </a:solidFill>
                <a:latin typeface="DM Sans" pitchFamily="2" charset="0"/>
              </a:rPr>
              <a:t> </a:t>
            </a:r>
          </a:p>
          <a:p>
            <a:pPr lvl="1">
              <a:buFont typeface="Wingdings" panose="05000000000000000000" pitchFamily="2" charset="2"/>
              <a:buChar char="Ø"/>
            </a:pPr>
            <a:r>
              <a:rPr lang="en-US" sz="1600" dirty="0">
                <a:solidFill>
                  <a:schemeClr val="tx1">
                    <a:lumMod val="95000"/>
                    <a:lumOff val="5000"/>
                  </a:schemeClr>
                </a:solidFill>
                <a:latin typeface="DM Sans" pitchFamily="2" charset="0"/>
              </a:rPr>
              <a:t>File and Disk that can hides and append files by using the slack </a:t>
            </a:r>
            <a:r>
              <a:rPr lang="en-US" sz="1600" dirty="0" err="1">
                <a:solidFill>
                  <a:schemeClr val="tx1">
                    <a:lumMod val="95000"/>
                    <a:lumOff val="5000"/>
                  </a:schemeClr>
                </a:solidFill>
                <a:latin typeface="DM Sans" pitchFamily="2" charset="0"/>
              </a:rPr>
              <a:t>spac</a:t>
            </a:r>
            <a:endParaRPr lang="en-IN" sz="1600" dirty="0">
              <a:solidFill>
                <a:schemeClr val="tx1">
                  <a:lumMod val="95000"/>
                  <a:lumOff val="5000"/>
                </a:schemeClr>
              </a:solidFill>
              <a:latin typeface="DM Sans" pitchFamily="2" charset="0"/>
            </a:endParaRPr>
          </a:p>
          <a:p>
            <a:pPr lvl="1">
              <a:buFont typeface="Wingdings" panose="05000000000000000000" pitchFamily="2" charset="2"/>
              <a:buChar char="Ø"/>
            </a:pPr>
            <a:r>
              <a:rPr lang="en-US" sz="1600" b="0" i="0" dirty="0">
                <a:solidFill>
                  <a:srgbClr val="000000"/>
                </a:solidFill>
                <a:effectLst/>
                <a:latin typeface="DM Sans" pitchFamily="2" charset="0"/>
              </a:rPr>
              <a:t>Text such as null characters, just alike morse code including html and java </a:t>
            </a:r>
          </a:p>
          <a:p>
            <a:pPr lvl="1">
              <a:buFont typeface="Wingdings" panose="05000000000000000000" pitchFamily="2" charset="2"/>
              <a:buChar char="Ø"/>
            </a:pPr>
            <a:r>
              <a:rPr lang="en-US" sz="1600" b="0" i="0" dirty="0">
                <a:solidFill>
                  <a:srgbClr val="000000"/>
                </a:solidFill>
                <a:effectLst/>
                <a:latin typeface="DM Sans" pitchFamily="2" charset="0"/>
              </a:rPr>
              <a:t>Images file such as bmp, gif and jpg, where they can be both color and gray-scale. </a:t>
            </a:r>
          </a:p>
          <a:p>
            <a:pPr lvl="1">
              <a:buFont typeface="Wingdings" panose="05000000000000000000" pitchFamily="2" charset="2"/>
              <a:buChar char="Ø"/>
            </a:pPr>
            <a:endParaRPr lang="en-US" sz="1600" dirty="0">
              <a:solidFill>
                <a:schemeClr val="tx1">
                  <a:lumMod val="95000"/>
                  <a:lumOff val="5000"/>
                </a:schemeClr>
              </a:solidFill>
            </a:endParaRPr>
          </a:p>
        </p:txBody>
      </p:sp>
    </p:spTree>
    <p:extLst>
      <p:ext uri="{BB962C8B-B14F-4D97-AF65-F5344CB8AC3E}">
        <p14:creationId xmlns:p14="http://schemas.microsoft.com/office/powerpoint/2010/main" val="891860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CC3330-20CE-4220-312A-A09D745FF1D7}"/>
              </a:ext>
            </a:extLst>
          </p:cNvPr>
          <p:cNvSpPr>
            <a:spLocks noGrp="1"/>
          </p:cNvSpPr>
          <p:nvPr>
            <p:ph idx="1"/>
          </p:nvPr>
        </p:nvSpPr>
        <p:spPr/>
        <p:txBody>
          <a:bodyPr/>
          <a:lstStyle/>
          <a:p>
            <a:pPr algn="l">
              <a:buFont typeface="Wingdings" panose="05000000000000000000" pitchFamily="2" charset="2"/>
              <a:buChar char="§"/>
            </a:pPr>
            <a:r>
              <a:rPr lang="en-US" sz="1600" dirty="0">
                <a:latin typeface="DM Sans" pitchFamily="2" charset="0"/>
              </a:rPr>
              <a:t>In general, the information hiding process extracts redundant bits from cover-object. The process consists of two steps: </a:t>
            </a:r>
          </a:p>
          <a:p>
            <a:pPr lvl="1">
              <a:buFont typeface="Wingdings" panose="05000000000000000000" pitchFamily="2" charset="2"/>
              <a:buChar char="Ø"/>
            </a:pPr>
            <a:r>
              <a:rPr lang="en-US" sz="1600" dirty="0">
                <a:latin typeface="DM Sans" pitchFamily="2" charset="0"/>
              </a:rPr>
              <a:t>Identification of redundant bits in a cover-object. Redundant bits are those bits that can be modified without corrupting the quality or destroying the integrity of the cover-object. </a:t>
            </a:r>
          </a:p>
          <a:p>
            <a:pPr lvl="1">
              <a:buFont typeface="Wingdings" panose="05000000000000000000" pitchFamily="2" charset="2"/>
              <a:buChar char="Ø"/>
            </a:pPr>
            <a:r>
              <a:rPr lang="en-US" sz="1600" dirty="0">
                <a:latin typeface="DM Sans" pitchFamily="2" charset="0"/>
              </a:rPr>
              <a:t>Embedding process then selects the subset of the redundant bits to be replaced with data from a secret message. The </a:t>
            </a:r>
            <a:r>
              <a:rPr lang="en-US" sz="1600" dirty="0" err="1">
                <a:latin typeface="DM Sans" pitchFamily="2" charset="0"/>
              </a:rPr>
              <a:t>stego</a:t>
            </a:r>
            <a:r>
              <a:rPr lang="en-US" sz="1600" dirty="0">
                <a:latin typeface="DM Sans" pitchFamily="2" charset="0"/>
              </a:rPr>
              <a:t>-object is created by replacing the selected redundant bits with message bits</a:t>
            </a:r>
          </a:p>
          <a:p>
            <a:endParaRPr lang="en-IN" dirty="0"/>
          </a:p>
        </p:txBody>
      </p:sp>
    </p:spTree>
    <p:extLst>
      <p:ext uri="{BB962C8B-B14F-4D97-AF65-F5344CB8AC3E}">
        <p14:creationId xmlns:p14="http://schemas.microsoft.com/office/powerpoint/2010/main" val="3308179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p:txBody>
          <a:bodyPr anchor="ctr"/>
          <a:lstStyle/>
          <a:p>
            <a:r>
              <a:rPr lang="en-US" sz="2800"/>
              <a:t>WHO ARE THE END USERS of this project?</a:t>
            </a:r>
            <a:endParaRPr lang="en-US"/>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2" y="2523392"/>
            <a:ext cx="11029615" cy="4070839"/>
          </a:xfrm>
        </p:spPr>
        <p:txBody>
          <a:bodyPr>
            <a:noAutofit/>
          </a:bodyPr>
          <a:lstStyle/>
          <a:p>
            <a:pPr algn="l"/>
            <a:r>
              <a:rPr lang="en-US" sz="1800" b="1" dirty="0">
                <a:latin typeface="DM Sans" pitchFamily="2" charset="0"/>
              </a:rPr>
              <a:t>Corporate Security : </a:t>
            </a:r>
            <a:r>
              <a:rPr lang="en-US" sz="1600" dirty="0">
                <a:latin typeface="DM Sans" pitchFamily="2" charset="0"/>
              </a:rPr>
              <a:t>Companies might employ steganography to protect proprietary information, trade secrets, or sensitive corporate communications.</a:t>
            </a:r>
          </a:p>
          <a:p>
            <a:pPr algn="l"/>
            <a:r>
              <a:rPr lang="en-US" sz="1800" b="1" dirty="0">
                <a:latin typeface="DM Sans" pitchFamily="2" charset="0"/>
              </a:rPr>
              <a:t>Digital Rights Management (DRM) : </a:t>
            </a:r>
            <a:r>
              <a:rPr lang="en-US" sz="1600" dirty="0">
                <a:latin typeface="DM Sans" pitchFamily="2" charset="0"/>
              </a:rPr>
              <a:t>Steganography can be employed for digital rights management, where copyright protection and information about authorized users are embedded within digital media files.</a:t>
            </a:r>
          </a:p>
          <a:p>
            <a:pPr algn="l"/>
            <a:r>
              <a:rPr lang="en-US" sz="1800" b="1" dirty="0">
                <a:latin typeface="DM Sans" pitchFamily="2" charset="0"/>
              </a:rPr>
              <a:t>Cybersecurity Professionals : </a:t>
            </a:r>
            <a:r>
              <a:rPr lang="en-US" sz="1600" dirty="0">
                <a:latin typeface="DM Sans" pitchFamily="2" charset="0"/>
              </a:rPr>
              <a:t>Security experts may use steganography as a tool for testing the security of systems and networks, uncovering potential vulnerabilities.</a:t>
            </a:r>
          </a:p>
          <a:p>
            <a:pPr algn="l"/>
            <a:r>
              <a:rPr lang="en-US" sz="1800" b="1" dirty="0">
                <a:latin typeface="DM Sans" pitchFamily="2" charset="0"/>
              </a:rPr>
              <a:t>Researchers and Academia : </a:t>
            </a:r>
            <a:r>
              <a:rPr lang="en-US" sz="1600" dirty="0">
                <a:latin typeface="DM Sans" pitchFamily="2" charset="0"/>
              </a:rPr>
              <a:t>Researchers may use steganography in various fields, including computer science and cryptography, to explore new methods or analyze the strengths and weaknesses of existing techniques.</a:t>
            </a:r>
          </a:p>
          <a:p>
            <a:pPr algn="l"/>
            <a:r>
              <a:rPr lang="en-US" sz="1800" b="1" dirty="0">
                <a:latin typeface="DM Sans" pitchFamily="2" charset="0"/>
              </a:rPr>
              <a:t>Everyday Users : </a:t>
            </a:r>
            <a:r>
              <a:rPr lang="en-US" sz="1600" dirty="0">
                <a:latin typeface="DM Sans" pitchFamily="2" charset="0"/>
              </a:rPr>
              <a:t>In some cases, individuals may use steganography for personal reasons, such as hiding messages within images for fun, artistic expression, or as a way of preserving privacy in personal communications.</a:t>
            </a:r>
          </a:p>
          <a:p>
            <a:pPr algn="l"/>
            <a:r>
              <a:rPr lang="en-US" sz="1800" b="1" dirty="0">
                <a:latin typeface="DM Sans" pitchFamily="2" charset="0"/>
              </a:rPr>
              <a:t>Journalists and Whistleblowers : </a:t>
            </a:r>
            <a:r>
              <a:rPr lang="en-US" sz="1600" dirty="0">
                <a:latin typeface="DM Sans" pitchFamily="2" charset="0"/>
              </a:rPr>
              <a:t>Individuals working in fields that require discretion, such as journalists and whistleblowers, might use steganography to hide information and protect their sources.</a:t>
            </a:r>
          </a:p>
          <a:p>
            <a:pPr algn="l">
              <a:buFont typeface="Arial" panose="020B0604020202020204" pitchFamily="34" charset="0"/>
              <a:buChar char="•"/>
            </a:pPr>
            <a:endParaRPr lang="en-US" sz="1600" dirty="0">
              <a:latin typeface="DM Sans" pitchFamily="2" charset="0"/>
            </a:endParaRPr>
          </a:p>
          <a:p>
            <a:endParaRPr lang="en-US" sz="1600" dirty="0">
              <a:latin typeface="DM Sans" pitchFamily="2" charset="0"/>
            </a:endParaRPr>
          </a:p>
        </p:txBody>
      </p:sp>
    </p:spTree>
    <p:extLst>
      <p:ext uri="{BB962C8B-B14F-4D97-AF65-F5344CB8AC3E}">
        <p14:creationId xmlns:p14="http://schemas.microsoft.com/office/powerpoint/2010/main" val="72854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493812"/>
            <a:ext cx="11029616" cy="1188720"/>
          </a:xfrm>
        </p:spPr>
        <p:txBody>
          <a:bodyPr anchor="ctr"/>
          <a:lstStyle/>
          <a:p>
            <a:br>
              <a:rPr lang="en-US" sz="2800" dirty="0"/>
            </a:br>
            <a:r>
              <a:rPr lang="en-US" sz="2800" dirty="0"/>
              <a:t>YOUR SOLUTION AND ITS VALUE PROPOSITION</a:t>
            </a:r>
            <a:endParaRPr lang="en-US" dirty="0"/>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1" y="1682532"/>
            <a:ext cx="11029615" cy="4681656"/>
          </a:xfrm>
        </p:spPr>
        <p:txBody>
          <a:bodyPr>
            <a:noAutofit/>
          </a:bodyPr>
          <a:lstStyle/>
          <a:p>
            <a:pPr marL="342900" indent="-342900">
              <a:buFont typeface="+mj-lt"/>
              <a:buAutoNum type="arabicPeriod"/>
            </a:pPr>
            <a:r>
              <a:rPr lang="en-US" sz="1400" dirty="0">
                <a:latin typeface="DM Sans" pitchFamily="2" charset="0"/>
              </a:rPr>
              <a:t>from </a:t>
            </a:r>
            <a:r>
              <a:rPr lang="en-US" sz="1400" dirty="0" err="1">
                <a:latin typeface="DM Sans" pitchFamily="2" charset="0"/>
              </a:rPr>
              <a:t>tkinter</a:t>
            </a:r>
            <a:r>
              <a:rPr lang="en-US" sz="1400" dirty="0">
                <a:latin typeface="DM Sans" pitchFamily="2" charset="0"/>
              </a:rPr>
              <a:t> import *</a:t>
            </a:r>
          </a:p>
          <a:p>
            <a:pPr marL="342900" indent="-342900">
              <a:buFont typeface="+mj-lt"/>
              <a:buAutoNum type="arabicPeriod"/>
            </a:pPr>
            <a:r>
              <a:rPr lang="en-US" sz="1400" dirty="0">
                <a:latin typeface="DM Sans" pitchFamily="2" charset="0"/>
              </a:rPr>
              <a:t>from </a:t>
            </a:r>
            <a:r>
              <a:rPr lang="en-US" sz="1400" dirty="0" err="1">
                <a:latin typeface="DM Sans" pitchFamily="2" charset="0"/>
              </a:rPr>
              <a:t>tkinter</a:t>
            </a:r>
            <a:r>
              <a:rPr lang="en-US" sz="1400" dirty="0">
                <a:latin typeface="DM Sans" pitchFamily="2" charset="0"/>
              </a:rPr>
              <a:t> import </a:t>
            </a:r>
            <a:r>
              <a:rPr lang="en-US" sz="1400" dirty="0" err="1">
                <a:latin typeface="DM Sans" pitchFamily="2" charset="0"/>
              </a:rPr>
              <a:t>filedialog</a:t>
            </a:r>
            <a:endParaRPr lang="en-US" sz="1400" dirty="0">
              <a:latin typeface="DM Sans" pitchFamily="2" charset="0"/>
            </a:endParaRPr>
          </a:p>
          <a:p>
            <a:pPr marL="342900" indent="-342900">
              <a:buFont typeface="+mj-lt"/>
              <a:buAutoNum type="arabicPeriod"/>
            </a:pPr>
            <a:r>
              <a:rPr lang="en-US" sz="1400" dirty="0">
                <a:latin typeface="DM Sans" pitchFamily="2" charset="0"/>
              </a:rPr>
              <a:t>import </a:t>
            </a:r>
            <a:r>
              <a:rPr lang="en-US" sz="1400" dirty="0" err="1">
                <a:latin typeface="DM Sans" pitchFamily="2" charset="0"/>
              </a:rPr>
              <a:t>tkinter</a:t>
            </a:r>
            <a:r>
              <a:rPr lang="en-US" sz="1400" dirty="0">
                <a:latin typeface="DM Sans" pitchFamily="2" charset="0"/>
              </a:rPr>
              <a:t> as </a:t>
            </a:r>
            <a:r>
              <a:rPr lang="en-US" sz="1400" dirty="0" err="1">
                <a:latin typeface="DM Sans" pitchFamily="2" charset="0"/>
              </a:rPr>
              <a:t>tk</a:t>
            </a:r>
            <a:endParaRPr lang="en-US" sz="1400" dirty="0">
              <a:latin typeface="DM Sans" pitchFamily="2" charset="0"/>
            </a:endParaRPr>
          </a:p>
          <a:p>
            <a:pPr marL="342900" indent="-342900">
              <a:buFont typeface="+mj-lt"/>
              <a:buAutoNum type="arabicPeriod"/>
            </a:pPr>
            <a:r>
              <a:rPr lang="en-US" sz="1400" dirty="0">
                <a:latin typeface="DM Sans" pitchFamily="2" charset="0"/>
              </a:rPr>
              <a:t>from PIL import Image, </a:t>
            </a:r>
            <a:r>
              <a:rPr lang="en-US" sz="1400" dirty="0" err="1">
                <a:latin typeface="DM Sans" pitchFamily="2" charset="0"/>
              </a:rPr>
              <a:t>ImageTk</a:t>
            </a:r>
            <a:endParaRPr lang="en-US" sz="1400" dirty="0">
              <a:latin typeface="DM Sans" pitchFamily="2" charset="0"/>
            </a:endParaRPr>
          </a:p>
          <a:p>
            <a:pPr marL="342900" indent="-342900">
              <a:buFont typeface="+mj-lt"/>
              <a:buAutoNum type="arabicPeriod"/>
            </a:pPr>
            <a:r>
              <a:rPr lang="en-US" sz="1400" dirty="0">
                <a:latin typeface="DM Sans" pitchFamily="2" charset="0"/>
              </a:rPr>
              <a:t>import </a:t>
            </a:r>
            <a:r>
              <a:rPr lang="en-US" sz="1400" dirty="0" err="1">
                <a:latin typeface="DM Sans" pitchFamily="2" charset="0"/>
              </a:rPr>
              <a:t>os</a:t>
            </a:r>
            <a:endParaRPr lang="en-US" sz="1400" dirty="0">
              <a:latin typeface="DM Sans" pitchFamily="2" charset="0"/>
            </a:endParaRPr>
          </a:p>
          <a:p>
            <a:pPr marL="342900" indent="-342900">
              <a:buFont typeface="+mj-lt"/>
              <a:buAutoNum type="arabicPeriod"/>
            </a:pPr>
            <a:r>
              <a:rPr lang="en-US" sz="1400" dirty="0">
                <a:latin typeface="DM Sans" pitchFamily="2" charset="0"/>
              </a:rPr>
              <a:t>from </a:t>
            </a:r>
            <a:r>
              <a:rPr lang="en-US" sz="1400" dirty="0" err="1">
                <a:latin typeface="DM Sans" pitchFamily="2" charset="0"/>
              </a:rPr>
              <a:t>stegano</a:t>
            </a:r>
            <a:r>
              <a:rPr lang="en-US" sz="1400" dirty="0">
                <a:latin typeface="DM Sans" pitchFamily="2" charset="0"/>
              </a:rPr>
              <a:t> import </a:t>
            </a:r>
            <a:r>
              <a:rPr lang="en-US" sz="1400" dirty="0" err="1">
                <a:latin typeface="DM Sans" pitchFamily="2" charset="0"/>
              </a:rPr>
              <a:t>lsb</a:t>
            </a:r>
            <a:r>
              <a:rPr lang="en-US" sz="1400" dirty="0">
                <a:latin typeface="DM Sans" pitchFamily="2" charset="0"/>
              </a:rPr>
              <a:t> #pip install </a:t>
            </a:r>
            <a:r>
              <a:rPr lang="en-US" sz="1400" dirty="0" err="1">
                <a:latin typeface="DM Sans" pitchFamily="2" charset="0"/>
              </a:rPr>
              <a:t>stegano</a:t>
            </a:r>
            <a:endParaRPr lang="en-US" sz="1400" dirty="0">
              <a:latin typeface="DM Sans" pitchFamily="2" charset="0"/>
            </a:endParaRPr>
          </a:p>
          <a:p>
            <a:pPr marL="342900" indent="-342900">
              <a:buFont typeface="+mj-lt"/>
              <a:buAutoNum type="arabicPeriod"/>
            </a:pPr>
            <a:r>
              <a:rPr lang="en-US" sz="1400" dirty="0">
                <a:latin typeface="DM Sans" pitchFamily="2" charset="0"/>
              </a:rPr>
              <a:t>root=Tk()</a:t>
            </a:r>
          </a:p>
          <a:p>
            <a:pPr marL="342900" indent="-342900">
              <a:buFont typeface="+mj-lt"/>
              <a:buAutoNum type="arabicPeriod"/>
            </a:pPr>
            <a:r>
              <a:rPr lang="en-US" sz="1400" dirty="0" err="1">
                <a:latin typeface="DM Sans" pitchFamily="2" charset="0"/>
              </a:rPr>
              <a:t>root.title</a:t>
            </a:r>
            <a:r>
              <a:rPr lang="en-US" sz="1400" dirty="0">
                <a:latin typeface="DM Sans" pitchFamily="2" charset="0"/>
              </a:rPr>
              <a:t>("Steganography Project...")</a:t>
            </a:r>
          </a:p>
          <a:p>
            <a:pPr marL="342900" indent="-342900">
              <a:buFont typeface="+mj-lt"/>
              <a:buAutoNum type="arabicPeriod"/>
            </a:pPr>
            <a:r>
              <a:rPr lang="en-US" sz="1400" dirty="0" err="1">
                <a:latin typeface="DM Sans" pitchFamily="2" charset="0"/>
              </a:rPr>
              <a:t>root.geometry</a:t>
            </a:r>
            <a:r>
              <a:rPr lang="en-US" sz="1400" dirty="0">
                <a:latin typeface="DM Sans" pitchFamily="2" charset="0"/>
              </a:rPr>
              <a:t>("700x500+250+180")</a:t>
            </a:r>
          </a:p>
          <a:p>
            <a:pPr marL="342900" indent="-342900">
              <a:buFont typeface="+mj-lt"/>
              <a:buAutoNum type="arabicPeriod"/>
            </a:pPr>
            <a:r>
              <a:rPr lang="en-US" sz="1400" dirty="0" err="1">
                <a:latin typeface="DM Sans" pitchFamily="2" charset="0"/>
              </a:rPr>
              <a:t>root.resizable</a:t>
            </a:r>
            <a:r>
              <a:rPr lang="en-US" sz="1400" dirty="0">
                <a:latin typeface="DM Sans" pitchFamily="2" charset="0"/>
              </a:rPr>
              <a:t>(</a:t>
            </a:r>
            <a:r>
              <a:rPr lang="en-US" sz="1400" dirty="0" err="1">
                <a:latin typeface="DM Sans" pitchFamily="2" charset="0"/>
              </a:rPr>
              <a:t>False,False</a:t>
            </a:r>
            <a:r>
              <a:rPr lang="en-US" sz="1400" dirty="0">
                <a:latin typeface="DM Sans" pitchFamily="2" charset="0"/>
              </a:rPr>
              <a:t>)</a:t>
            </a:r>
          </a:p>
          <a:p>
            <a:pPr marL="342900" indent="-342900">
              <a:buFont typeface="+mj-lt"/>
              <a:buAutoNum type="arabicPeriod"/>
            </a:pPr>
            <a:r>
              <a:rPr lang="en-US" sz="1400" dirty="0" err="1">
                <a:latin typeface="DM Sans" pitchFamily="2" charset="0"/>
              </a:rPr>
              <a:t>root.configure</a:t>
            </a:r>
            <a:r>
              <a:rPr lang="en-US" sz="1400" dirty="0">
                <a:latin typeface="DM Sans" pitchFamily="2" charset="0"/>
              </a:rPr>
              <a:t>(</a:t>
            </a:r>
            <a:r>
              <a:rPr lang="en-US" sz="1400" dirty="0" err="1">
                <a:latin typeface="DM Sans" pitchFamily="2" charset="0"/>
              </a:rPr>
              <a:t>bg</a:t>
            </a:r>
            <a:r>
              <a:rPr lang="en-US" sz="1400" dirty="0">
                <a:latin typeface="DM Sans" pitchFamily="2" charset="0"/>
              </a:rPr>
              <a:t>="#2f4155")</a:t>
            </a:r>
          </a:p>
          <a:p>
            <a:pPr marL="342900" indent="-342900">
              <a:buFont typeface="+mj-lt"/>
              <a:buAutoNum type="arabicPeriod"/>
            </a:pPr>
            <a:endParaRPr lang="en-US" sz="1400" dirty="0">
              <a:latin typeface="DM Sans" pitchFamily="2" charset="0"/>
            </a:endParaRPr>
          </a:p>
        </p:txBody>
      </p:sp>
    </p:spTree>
    <p:extLst>
      <p:ext uri="{BB962C8B-B14F-4D97-AF65-F5344CB8AC3E}">
        <p14:creationId xmlns:p14="http://schemas.microsoft.com/office/powerpoint/2010/main" val="2076851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9743BA5-8165-0171-9F36-7513ACB69DFF}"/>
              </a:ext>
            </a:extLst>
          </p:cNvPr>
          <p:cNvSpPr>
            <a:spLocks noGrp="1"/>
          </p:cNvSpPr>
          <p:nvPr>
            <p:ph idx="1"/>
          </p:nvPr>
        </p:nvSpPr>
        <p:spPr>
          <a:xfrm>
            <a:off x="581192" y="729762"/>
            <a:ext cx="11029615" cy="5785338"/>
          </a:xfrm>
        </p:spPr>
        <p:txBody>
          <a:bodyPr>
            <a:normAutofit/>
          </a:bodyPr>
          <a:lstStyle/>
          <a:p>
            <a:pPr marL="514350" indent="-514350">
              <a:buFont typeface="+mj-lt"/>
              <a:buAutoNum type="arabicPeriod" startAt="12"/>
            </a:pPr>
            <a:r>
              <a:rPr lang="en-US" sz="1400" dirty="0">
                <a:latin typeface="DM Sans" pitchFamily="2" charset="0"/>
              </a:rPr>
              <a:t>def </a:t>
            </a:r>
            <a:r>
              <a:rPr lang="en-US" sz="1400" dirty="0" err="1">
                <a:latin typeface="DM Sans" pitchFamily="2" charset="0"/>
              </a:rPr>
              <a:t>Showimage</a:t>
            </a:r>
            <a:r>
              <a:rPr lang="en-US" sz="1400" dirty="0">
                <a:latin typeface="DM Sans" pitchFamily="2" charset="0"/>
              </a:rPr>
              <a:t>():</a:t>
            </a:r>
          </a:p>
          <a:p>
            <a:pPr marL="342900" indent="-342900">
              <a:buFont typeface="+mj-lt"/>
              <a:buAutoNum type="arabicPeriod" startAt="12"/>
            </a:pPr>
            <a:r>
              <a:rPr lang="en-US" sz="1400" dirty="0">
                <a:latin typeface="DM Sans" pitchFamily="2" charset="0"/>
              </a:rPr>
              <a:t>    global filename</a:t>
            </a:r>
          </a:p>
          <a:p>
            <a:pPr marL="342900" indent="-342900">
              <a:buFont typeface="+mj-lt"/>
              <a:buAutoNum type="arabicPeriod" startAt="12"/>
            </a:pPr>
            <a:r>
              <a:rPr lang="en-US" sz="1400" dirty="0">
                <a:latin typeface="DM Sans" pitchFamily="2" charset="0"/>
              </a:rPr>
              <a:t>    filename=</a:t>
            </a:r>
            <a:r>
              <a:rPr lang="en-US" sz="1400" dirty="0" err="1">
                <a:latin typeface="DM Sans" pitchFamily="2" charset="0"/>
              </a:rPr>
              <a:t>filedialog.askopenfilename</a:t>
            </a:r>
            <a:r>
              <a:rPr lang="en-US" sz="1400" dirty="0">
                <a:latin typeface="DM Sans" pitchFamily="2" charset="0"/>
              </a:rPr>
              <a:t>(</a:t>
            </a:r>
            <a:r>
              <a:rPr lang="en-US" sz="1400" dirty="0" err="1">
                <a:latin typeface="DM Sans" pitchFamily="2" charset="0"/>
              </a:rPr>
              <a:t>initialdir</a:t>
            </a:r>
            <a:r>
              <a:rPr lang="en-US" sz="1400" dirty="0">
                <a:latin typeface="DM Sans" pitchFamily="2" charset="0"/>
              </a:rPr>
              <a:t>=</a:t>
            </a:r>
            <a:r>
              <a:rPr lang="en-US" sz="1400" dirty="0" err="1">
                <a:latin typeface="DM Sans" pitchFamily="2" charset="0"/>
              </a:rPr>
              <a:t>os.getcwd</a:t>
            </a:r>
            <a:r>
              <a:rPr lang="en-US" sz="1400" dirty="0">
                <a:latin typeface="DM Sans" pitchFamily="2" charset="0"/>
              </a:rPr>
              <a:t>(),  title='Select Image File’, filetype=(("PNG File","*.</a:t>
            </a:r>
            <a:r>
              <a:rPr lang="en-US" sz="1400" dirty="0" err="1">
                <a:latin typeface="DM Sans" pitchFamily="2" charset="0"/>
              </a:rPr>
              <a:t>png</a:t>
            </a:r>
            <a:r>
              <a:rPr lang="en-US" sz="1400" dirty="0">
                <a:latin typeface="DM Sans" pitchFamily="2" charset="0"/>
              </a:rPr>
              <a:t>"), ("JPG File","*.jpg"), ("All File","*.txt")))</a:t>
            </a:r>
          </a:p>
          <a:p>
            <a:pPr marL="342900" indent="-342900">
              <a:buFont typeface="+mj-lt"/>
              <a:buAutoNum type="arabicPeriod" startAt="12"/>
            </a:pPr>
            <a:r>
              <a:rPr lang="en-US" sz="1400" dirty="0" err="1">
                <a:latin typeface="DM Sans" pitchFamily="2" charset="0"/>
              </a:rPr>
              <a:t>img</a:t>
            </a:r>
            <a:r>
              <a:rPr lang="en-US" sz="1400" dirty="0">
                <a:latin typeface="DM Sans" pitchFamily="2" charset="0"/>
              </a:rPr>
              <a:t>=</a:t>
            </a:r>
            <a:r>
              <a:rPr lang="en-US" sz="1400" dirty="0" err="1">
                <a:latin typeface="DM Sans" pitchFamily="2" charset="0"/>
              </a:rPr>
              <a:t>Image.open</a:t>
            </a:r>
            <a:r>
              <a:rPr lang="en-US" sz="1400" dirty="0">
                <a:latin typeface="DM Sans" pitchFamily="2" charset="0"/>
              </a:rPr>
              <a:t>(filename)</a:t>
            </a:r>
          </a:p>
          <a:p>
            <a:pPr marL="342900" indent="-342900">
              <a:buFont typeface="+mj-lt"/>
              <a:buAutoNum type="arabicPeriod" startAt="12"/>
            </a:pPr>
            <a:r>
              <a:rPr lang="en-US" sz="1400" dirty="0">
                <a:latin typeface="DM Sans" pitchFamily="2" charset="0"/>
              </a:rPr>
              <a:t>    </a:t>
            </a:r>
            <a:r>
              <a:rPr lang="en-US" sz="1400" dirty="0" err="1">
                <a:latin typeface="DM Sans" pitchFamily="2" charset="0"/>
              </a:rPr>
              <a:t>img</a:t>
            </a:r>
            <a:r>
              <a:rPr lang="en-US" sz="1400" dirty="0">
                <a:latin typeface="DM Sans" pitchFamily="2" charset="0"/>
              </a:rPr>
              <a:t>=</a:t>
            </a:r>
            <a:r>
              <a:rPr lang="en-US" sz="1400" dirty="0" err="1">
                <a:latin typeface="DM Sans" pitchFamily="2" charset="0"/>
              </a:rPr>
              <a:t>ImageTk.PhotoImage</a:t>
            </a:r>
            <a:r>
              <a:rPr lang="en-US" sz="1400" dirty="0">
                <a:latin typeface="DM Sans" pitchFamily="2" charset="0"/>
              </a:rPr>
              <a:t>(</a:t>
            </a:r>
            <a:r>
              <a:rPr lang="en-US" sz="1400" dirty="0" err="1">
                <a:latin typeface="DM Sans" pitchFamily="2" charset="0"/>
              </a:rPr>
              <a:t>img</a:t>
            </a:r>
            <a:r>
              <a:rPr lang="en-US" sz="1400" dirty="0">
                <a:latin typeface="DM Sans" pitchFamily="2" charset="0"/>
              </a:rPr>
              <a:t>)</a:t>
            </a:r>
          </a:p>
          <a:p>
            <a:pPr marL="342900" indent="-342900">
              <a:buFont typeface="+mj-lt"/>
              <a:buAutoNum type="arabicPeriod" startAt="12"/>
            </a:pPr>
            <a:r>
              <a:rPr lang="en-US" sz="1400" dirty="0">
                <a:latin typeface="DM Sans" pitchFamily="2" charset="0"/>
              </a:rPr>
              <a:t>    </a:t>
            </a:r>
            <a:r>
              <a:rPr lang="en-US" sz="1400" dirty="0" err="1">
                <a:latin typeface="DM Sans" pitchFamily="2" charset="0"/>
              </a:rPr>
              <a:t>ibl.configure</a:t>
            </a:r>
            <a:r>
              <a:rPr lang="en-US" sz="1400" dirty="0">
                <a:latin typeface="DM Sans" pitchFamily="2" charset="0"/>
              </a:rPr>
              <a:t>(image=</a:t>
            </a:r>
            <a:r>
              <a:rPr lang="en-US" sz="1400" dirty="0" err="1">
                <a:latin typeface="DM Sans" pitchFamily="2" charset="0"/>
              </a:rPr>
              <a:t>img,width</a:t>
            </a:r>
            <a:r>
              <a:rPr lang="en-US" sz="1400" dirty="0">
                <a:latin typeface="DM Sans" pitchFamily="2" charset="0"/>
              </a:rPr>
              <a:t>=250,height=250)</a:t>
            </a:r>
          </a:p>
          <a:p>
            <a:pPr marL="342900" indent="-342900">
              <a:buFont typeface="+mj-lt"/>
              <a:buAutoNum type="arabicPeriod" startAt="12"/>
            </a:pPr>
            <a:r>
              <a:rPr lang="en-US" sz="1400" dirty="0">
                <a:latin typeface="DM Sans" pitchFamily="2" charset="0"/>
              </a:rPr>
              <a:t>    </a:t>
            </a:r>
            <a:r>
              <a:rPr lang="en-US" sz="1400" dirty="0" err="1">
                <a:latin typeface="DM Sans" pitchFamily="2" charset="0"/>
              </a:rPr>
              <a:t>ibl.image</a:t>
            </a:r>
            <a:r>
              <a:rPr lang="en-US" sz="1400" dirty="0">
                <a:latin typeface="DM Sans" pitchFamily="2" charset="0"/>
              </a:rPr>
              <a:t>=</a:t>
            </a:r>
            <a:r>
              <a:rPr lang="en-US" sz="1400" dirty="0" err="1">
                <a:latin typeface="DM Sans" pitchFamily="2" charset="0"/>
              </a:rPr>
              <a:t>img</a:t>
            </a:r>
            <a:endParaRPr lang="en-US" sz="1400" dirty="0">
              <a:latin typeface="DM Sans" pitchFamily="2" charset="0"/>
            </a:endParaRPr>
          </a:p>
          <a:p>
            <a:pPr marL="342900" indent="-342900">
              <a:buFont typeface="+mj-lt"/>
              <a:buAutoNum type="arabicPeriod" startAt="12"/>
            </a:pPr>
            <a:r>
              <a:rPr lang="en-US" sz="1400" dirty="0">
                <a:latin typeface="DM Sans" pitchFamily="2" charset="0"/>
              </a:rPr>
              <a:t>def Hide():</a:t>
            </a:r>
          </a:p>
          <a:p>
            <a:pPr marL="342900" indent="-342900">
              <a:buFont typeface="+mj-lt"/>
              <a:buAutoNum type="arabicPeriod" startAt="12"/>
            </a:pPr>
            <a:r>
              <a:rPr lang="en-US" sz="1400" dirty="0">
                <a:latin typeface="DM Sans" pitchFamily="2" charset="0"/>
              </a:rPr>
              <a:t>    global secret</a:t>
            </a:r>
          </a:p>
          <a:p>
            <a:pPr marL="342900" indent="-342900">
              <a:buFont typeface="+mj-lt"/>
              <a:buAutoNum type="arabicPeriod" startAt="12"/>
            </a:pPr>
            <a:r>
              <a:rPr lang="en-US" sz="1400" dirty="0">
                <a:latin typeface="DM Sans" pitchFamily="2" charset="0"/>
              </a:rPr>
              <a:t>    message=text1.get(1.0,END)</a:t>
            </a:r>
          </a:p>
          <a:p>
            <a:pPr marL="342900" indent="-342900">
              <a:buFont typeface="+mj-lt"/>
              <a:buAutoNum type="arabicPeriod" startAt="12"/>
            </a:pPr>
            <a:r>
              <a:rPr lang="en-US" sz="1400" dirty="0">
                <a:latin typeface="DM Sans" pitchFamily="2" charset="0"/>
              </a:rPr>
              <a:t>    secret=</a:t>
            </a:r>
            <a:r>
              <a:rPr lang="en-US" sz="1400" dirty="0" err="1">
                <a:latin typeface="DM Sans" pitchFamily="2" charset="0"/>
              </a:rPr>
              <a:t>lsb.hide</a:t>
            </a:r>
            <a:r>
              <a:rPr lang="en-US" sz="1400" dirty="0">
                <a:latin typeface="DM Sans" pitchFamily="2" charset="0"/>
              </a:rPr>
              <a:t>(str(filename),message)</a:t>
            </a:r>
          </a:p>
          <a:p>
            <a:pPr marL="342900" indent="-342900">
              <a:buFont typeface="+mj-lt"/>
              <a:buAutoNum type="arabicPeriod" startAt="12"/>
            </a:pPr>
            <a:r>
              <a:rPr lang="en-US" sz="1400" dirty="0">
                <a:latin typeface="DM Sans" pitchFamily="2" charset="0"/>
              </a:rPr>
              <a:t>def Show():</a:t>
            </a:r>
          </a:p>
          <a:p>
            <a:pPr marL="342900" indent="-342900">
              <a:buFont typeface="+mj-lt"/>
              <a:buAutoNum type="arabicPeriod" startAt="12"/>
            </a:pPr>
            <a:r>
              <a:rPr lang="en-US" sz="1400" dirty="0">
                <a:latin typeface="DM Sans" pitchFamily="2" charset="0"/>
              </a:rPr>
              <a:t>    </a:t>
            </a:r>
            <a:r>
              <a:rPr lang="en-US" sz="1400" dirty="0" err="1">
                <a:latin typeface="DM Sans" pitchFamily="2" charset="0"/>
              </a:rPr>
              <a:t>clear_message</a:t>
            </a:r>
            <a:r>
              <a:rPr lang="en-US" sz="1400" dirty="0">
                <a:latin typeface="DM Sans" pitchFamily="2" charset="0"/>
              </a:rPr>
              <a:t>=</a:t>
            </a:r>
            <a:r>
              <a:rPr lang="en-US" sz="1400" dirty="0" err="1">
                <a:latin typeface="DM Sans" pitchFamily="2" charset="0"/>
              </a:rPr>
              <a:t>lsb.reveal</a:t>
            </a:r>
            <a:r>
              <a:rPr lang="en-US" sz="1400" dirty="0">
                <a:latin typeface="DM Sans" pitchFamily="2" charset="0"/>
              </a:rPr>
              <a:t>(filename)</a:t>
            </a:r>
          </a:p>
          <a:p>
            <a:pPr marL="342900" indent="-342900">
              <a:buFont typeface="+mj-lt"/>
              <a:buAutoNum type="arabicPeriod" startAt="12"/>
            </a:pPr>
            <a:r>
              <a:rPr lang="en-US" sz="1400" dirty="0">
                <a:latin typeface="DM Sans" pitchFamily="2" charset="0"/>
              </a:rPr>
              <a:t>    text1.delete(1.0,END)</a:t>
            </a:r>
          </a:p>
          <a:p>
            <a:pPr marL="342900" indent="-342900">
              <a:buFont typeface="+mj-lt"/>
              <a:buAutoNum type="arabicPeriod" startAt="12"/>
            </a:pPr>
            <a:r>
              <a:rPr lang="en-US" sz="1400" dirty="0">
                <a:latin typeface="DM Sans" pitchFamily="2" charset="0"/>
              </a:rPr>
              <a:t>    text1.insert(</a:t>
            </a:r>
            <a:r>
              <a:rPr lang="en-US" sz="1400" dirty="0" err="1">
                <a:latin typeface="DM Sans" pitchFamily="2" charset="0"/>
              </a:rPr>
              <a:t>END,clear_message</a:t>
            </a:r>
            <a:r>
              <a:rPr lang="en-US" sz="1400" dirty="0">
                <a:latin typeface="DM Sans" pitchFamily="2" charset="0"/>
              </a:rPr>
              <a:t>)</a:t>
            </a:r>
          </a:p>
          <a:p>
            <a:endParaRPr lang="en-IN" sz="800" dirty="0"/>
          </a:p>
        </p:txBody>
      </p:sp>
    </p:spTree>
    <p:extLst>
      <p:ext uri="{BB962C8B-B14F-4D97-AF65-F5344CB8AC3E}">
        <p14:creationId xmlns:p14="http://schemas.microsoft.com/office/powerpoint/2010/main" val="1106234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97CF6B-E47B-FC4B-4043-14CAC16FBA33}"/>
              </a:ext>
            </a:extLst>
          </p:cNvPr>
          <p:cNvSpPr>
            <a:spLocks noGrp="1"/>
          </p:cNvSpPr>
          <p:nvPr>
            <p:ph idx="1"/>
          </p:nvPr>
        </p:nvSpPr>
        <p:spPr>
          <a:xfrm>
            <a:off x="581192" y="808892"/>
            <a:ext cx="11029615" cy="5715000"/>
          </a:xfrm>
        </p:spPr>
        <p:txBody>
          <a:bodyPr>
            <a:normAutofit/>
          </a:bodyPr>
          <a:lstStyle/>
          <a:p>
            <a:pPr marL="342900" indent="-342900">
              <a:buFont typeface="+mj-lt"/>
              <a:buAutoNum type="arabicPeriod" startAt="27"/>
            </a:pPr>
            <a:r>
              <a:rPr lang="en-IN" sz="1400" dirty="0">
                <a:latin typeface="DM Sans" pitchFamily="2" charset="0"/>
              </a:rPr>
              <a:t>def Save():</a:t>
            </a:r>
          </a:p>
          <a:p>
            <a:pPr marL="342900" indent="-342900">
              <a:buFont typeface="+mj-lt"/>
              <a:buAutoNum type="arabicPeriod" startAt="27"/>
            </a:pPr>
            <a:r>
              <a:rPr lang="en-IN" sz="1400" dirty="0" err="1">
                <a:latin typeface="DM Sans" pitchFamily="2" charset="0"/>
              </a:rPr>
              <a:t>secret.save</a:t>
            </a:r>
            <a:r>
              <a:rPr lang="en-IN" sz="1400" dirty="0">
                <a:latin typeface="DM Sans" pitchFamily="2" charset="0"/>
              </a:rPr>
              <a:t>("Hidden.png")</a:t>
            </a:r>
          </a:p>
          <a:p>
            <a:pPr marL="342900" indent="-342900">
              <a:buFont typeface="+mj-lt"/>
              <a:buAutoNum type="arabicPeriod" startAt="27"/>
            </a:pPr>
            <a:r>
              <a:rPr lang="en-IN" sz="1400" dirty="0">
                <a:latin typeface="DM Sans" pitchFamily="2" charset="0"/>
              </a:rPr>
              <a:t>#icon</a:t>
            </a:r>
          </a:p>
          <a:p>
            <a:pPr marL="342900" indent="-342900">
              <a:buFont typeface="+mj-lt"/>
              <a:buAutoNum type="arabicPeriod" startAt="27"/>
            </a:pPr>
            <a:r>
              <a:rPr lang="en-IN" sz="1400" dirty="0" err="1">
                <a:latin typeface="DM Sans" pitchFamily="2" charset="0"/>
              </a:rPr>
              <a:t>image_icon</a:t>
            </a:r>
            <a:r>
              <a:rPr lang="en-IN" sz="1400" dirty="0">
                <a:latin typeface="DM Sans" pitchFamily="2" charset="0"/>
              </a:rPr>
              <a:t>=</a:t>
            </a:r>
            <a:r>
              <a:rPr lang="en-IN" sz="1400" dirty="0" err="1">
                <a:latin typeface="DM Sans" pitchFamily="2" charset="0"/>
              </a:rPr>
              <a:t>PhotoImage</a:t>
            </a:r>
            <a:r>
              <a:rPr lang="en-IN" sz="1400" dirty="0">
                <a:latin typeface="DM Sans" pitchFamily="2" charset="0"/>
              </a:rPr>
              <a:t>(file="logo.png")</a:t>
            </a:r>
          </a:p>
          <a:p>
            <a:pPr marL="342900" indent="-342900">
              <a:buFont typeface="+mj-lt"/>
              <a:buAutoNum type="arabicPeriod" startAt="27"/>
            </a:pPr>
            <a:r>
              <a:rPr lang="en-IN" sz="1400" dirty="0" err="1">
                <a:latin typeface="DM Sans" pitchFamily="2" charset="0"/>
              </a:rPr>
              <a:t>root.iconphoto</a:t>
            </a:r>
            <a:r>
              <a:rPr lang="en-IN" sz="1400" dirty="0">
                <a:latin typeface="DM Sans" pitchFamily="2" charset="0"/>
              </a:rPr>
              <a:t>(</a:t>
            </a:r>
            <a:r>
              <a:rPr lang="en-IN" sz="1400" dirty="0" err="1">
                <a:latin typeface="DM Sans" pitchFamily="2" charset="0"/>
              </a:rPr>
              <a:t>False,image_icon</a:t>
            </a:r>
            <a:r>
              <a:rPr lang="en-IN" sz="1400" dirty="0">
                <a:latin typeface="DM Sans" pitchFamily="2" charset="0"/>
              </a:rPr>
              <a:t>)</a:t>
            </a:r>
          </a:p>
          <a:p>
            <a:pPr marL="342900" indent="-342900">
              <a:buFont typeface="+mj-lt"/>
              <a:buAutoNum type="arabicPeriod" startAt="27"/>
            </a:pPr>
            <a:r>
              <a:rPr lang="en-IN" sz="1400" dirty="0">
                <a:latin typeface="DM Sans" pitchFamily="2" charset="0"/>
              </a:rPr>
              <a:t>#logo</a:t>
            </a:r>
          </a:p>
          <a:p>
            <a:pPr marL="342900" indent="-342900">
              <a:buFont typeface="+mj-lt"/>
              <a:buAutoNum type="arabicPeriod" startAt="27"/>
            </a:pPr>
            <a:r>
              <a:rPr lang="en-IN" sz="1400" dirty="0">
                <a:latin typeface="DM Sans" pitchFamily="2" charset="0"/>
              </a:rPr>
              <a:t>logo=</a:t>
            </a:r>
            <a:r>
              <a:rPr lang="en-IN" sz="1400" dirty="0" err="1">
                <a:latin typeface="DM Sans" pitchFamily="2" charset="0"/>
              </a:rPr>
              <a:t>PhotoImage</a:t>
            </a:r>
            <a:r>
              <a:rPr lang="en-IN" sz="1400" dirty="0">
                <a:latin typeface="DM Sans" pitchFamily="2" charset="0"/>
              </a:rPr>
              <a:t>(file="logo1.png")</a:t>
            </a:r>
          </a:p>
          <a:p>
            <a:pPr marL="342900" indent="-342900">
              <a:buFont typeface="+mj-lt"/>
              <a:buAutoNum type="arabicPeriod" startAt="27"/>
            </a:pPr>
            <a:r>
              <a:rPr lang="en-IN" sz="1400" dirty="0">
                <a:latin typeface="DM Sans" pitchFamily="2" charset="0"/>
              </a:rPr>
              <a:t>Label(</a:t>
            </a:r>
            <a:r>
              <a:rPr lang="en-IN" sz="1400" dirty="0" err="1">
                <a:latin typeface="DM Sans" pitchFamily="2" charset="0"/>
              </a:rPr>
              <a:t>root,image</a:t>
            </a:r>
            <a:r>
              <a:rPr lang="en-IN" sz="1400" dirty="0">
                <a:latin typeface="DM Sans" pitchFamily="2" charset="0"/>
              </a:rPr>
              <a:t>=</a:t>
            </a:r>
            <a:r>
              <a:rPr lang="en-IN" sz="1400" dirty="0" err="1">
                <a:latin typeface="DM Sans" pitchFamily="2" charset="0"/>
              </a:rPr>
              <a:t>logo,bg</a:t>
            </a:r>
            <a:r>
              <a:rPr lang="en-IN" sz="1400" dirty="0">
                <a:latin typeface="DM Sans" pitchFamily="2" charset="0"/>
              </a:rPr>
              <a:t>="#2f4155").place(x=10,y=10)</a:t>
            </a:r>
          </a:p>
          <a:p>
            <a:pPr marL="342900" indent="-342900">
              <a:buFont typeface="+mj-lt"/>
              <a:buAutoNum type="arabicPeriod" startAt="27"/>
            </a:pPr>
            <a:r>
              <a:rPr lang="en-IN" sz="1400" dirty="0">
                <a:latin typeface="DM Sans" pitchFamily="2" charset="0"/>
              </a:rPr>
              <a:t>Label(</a:t>
            </a:r>
            <a:r>
              <a:rPr lang="en-IN" sz="1400" dirty="0" err="1">
                <a:latin typeface="DM Sans" pitchFamily="2" charset="0"/>
              </a:rPr>
              <a:t>root,text</a:t>
            </a:r>
            <a:r>
              <a:rPr lang="en-IN" sz="1400" dirty="0">
                <a:latin typeface="DM Sans" pitchFamily="2" charset="0"/>
              </a:rPr>
              <a:t>="Add Your Image",</a:t>
            </a:r>
            <a:r>
              <a:rPr lang="en-IN" sz="1400" dirty="0" err="1">
                <a:latin typeface="DM Sans" pitchFamily="2" charset="0"/>
              </a:rPr>
              <a:t>bg</a:t>
            </a:r>
            <a:r>
              <a:rPr lang="en-IN" sz="1400" dirty="0">
                <a:latin typeface="DM Sans" pitchFamily="2" charset="0"/>
              </a:rPr>
              <a:t>="#2d4155",fg="</a:t>
            </a:r>
            <a:r>
              <a:rPr lang="en-IN" sz="1400" dirty="0" err="1">
                <a:latin typeface="DM Sans" pitchFamily="2" charset="0"/>
              </a:rPr>
              <a:t>white",font</a:t>
            </a:r>
            <a:r>
              <a:rPr lang="en-IN" sz="1400" dirty="0">
                <a:latin typeface="DM Sans" pitchFamily="2" charset="0"/>
              </a:rPr>
              <a:t>="</a:t>
            </a:r>
            <a:r>
              <a:rPr lang="en-IN" sz="1400" dirty="0" err="1">
                <a:latin typeface="DM Sans" pitchFamily="2" charset="0"/>
              </a:rPr>
              <a:t>arieal</a:t>
            </a:r>
            <a:r>
              <a:rPr lang="en-IN" sz="1400" dirty="0">
                <a:latin typeface="DM Sans" pitchFamily="2" charset="0"/>
              </a:rPr>
              <a:t> 25 bold").place(x=100,y=20)</a:t>
            </a:r>
          </a:p>
          <a:p>
            <a:pPr marL="342900" indent="-342900">
              <a:buFont typeface="+mj-lt"/>
              <a:buAutoNum type="arabicPeriod" startAt="36"/>
            </a:pPr>
            <a:r>
              <a:rPr lang="en-IN" sz="1600" dirty="0">
                <a:latin typeface="DM Sans" pitchFamily="2" charset="0"/>
              </a:rPr>
              <a:t>#First Frame</a:t>
            </a:r>
          </a:p>
          <a:p>
            <a:pPr marL="342900" indent="-342900">
              <a:buFont typeface="+mj-lt"/>
              <a:buAutoNum type="arabicPeriod" startAt="36"/>
            </a:pPr>
            <a:r>
              <a:rPr lang="en-IN" sz="1600" dirty="0">
                <a:latin typeface="DM Sans" pitchFamily="2" charset="0"/>
              </a:rPr>
              <a:t>f=Frame(</a:t>
            </a:r>
            <a:r>
              <a:rPr lang="en-IN" sz="1600" dirty="0" err="1">
                <a:latin typeface="DM Sans" pitchFamily="2" charset="0"/>
              </a:rPr>
              <a:t>root,bd</a:t>
            </a:r>
            <a:r>
              <a:rPr lang="en-IN" sz="1600" dirty="0">
                <a:latin typeface="DM Sans" pitchFamily="2" charset="0"/>
              </a:rPr>
              <a:t>=3,bg="</a:t>
            </a:r>
            <a:r>
              <a:rPr lang="en-IN" sz="1600" dirty="0" err="1">
                <a:latin typeface="DM Sans" pitchFamily="2" charset="0"/>
              </a:rPr>
              <a:t>black",width</a:t>
            </a:r>
            <a:r>
              <a:rPr lang="en-IN" sz="1600" dirty="0">
                <a:latin typeface="DM Sans" pitchFamily="2" charset="0"/>
              </a:rPr>
              <a:t>=340,height=280,relief=GROOVE)</a:t>
            </a:r>
          </a:p>
          <a:p>
            <a:pPr marL="342900" indent="-342900">
              <a:buFont typeface="+mj-lt"/>
              <a:buAutoNum type="arabicPeriod" startAt="36"/>
            </a:pPr>
            <a:r>
              <a:rPr lang="en-IN" sz="1600" dirty="0" err="1">
                <a:latin typeface="DM Sans" pitchFamily="2" charset="0"/>
              </a:rPr>
              <a:t>f.place</a:t>
            </a:r>
            <a:r>
              <a:rPr lang="en-IN" sz="1600" dirty="0">
                <a:latin typeface="DM Sans" pitchFamily="2" charset="0"/>
              </a:rPr>
              <a:t>(x=10,y=80)</a:t>
            </a:r>
          </a:p>
          <a:p>
            <a:pPr marL="342900" indent="-342900">
              <a:buFont typeface="+mj-lt"/>
              <a:buAutoNum type="arabicPeriod" startAt="36"/>
            </a:pPr>
            <a:r>
              <a:rPr lang="en-IN" sz="1600" dirty="0" err="1">
                <a:latin typeface="DM Sans" pitchFamily="2" charset="0"/>
              </a:rPr>
              <a:t>ibl</a:t>
            </a:r>
            <a:r>
              <a:rPr lang="en-IN" sz="1600" dirty="0">
                <a:latin typeface="DM Sans" pitchFamily="2" charset="0"/>
              </a:rPr>
              <a:t>=Label(</a:t>
            </a:r>
            <a:r>
              <a:rPr lang="en-IN" sz="1600" dirty="0" err="1">
                <a:latin typeface="DM Sans" pitchFamily="2" charset="0"/>
              </a:rPr>
              <a:t>f,bg</a:t>
            </a:r>
            <a:r>
              <a:rPr lang="en-IN" sz="1600" dirty="0">
                <a:latin typeface="DM Sans" pitchFamily="2" charset="0"/>
              </a:rPr>
              <a:t>="black")</a:t>
            </a:r>
          </a:p>
          <a:p>
            <a:pPr marL="342900" indent="-342900">
              <a:buFont typeface="+mj-lt"/>
              <a:buAutoNum type="arabicPeriod" startAt="36"/>
            </a:pPr>
            <a:r>
              <a:rPr lang="en-IN" sz="1600" dirty="0" err="1">
                <a:latin typeface="DM Sans" pitchFamily="2" charset="0"/>
              </a:rPr>
              <a:t>ibl.place</a:t>
            </a:r>
            <a:r>
              <a:rPr lang="en-IN" sz="1600" dirty="0">
                <a:latin typeface="DM Sans" pitchFamily="2" charset="0"/>
              </a:rPr>
              <a:t>(x=40,y=10)</a:t>
            </a:r>
            <a:endParaRPr lang="en-IN" sz="1600" dirty="0"/>
          </a:p>
        </p:txBody>
      </p:sp>
    </p:spTree>
    <p:extLst>
      <p:ext uri="{BB962C8B-B14F-4D97-AF65-F5344CB8AC3E}">
        <p14:creationId xmlns:p14="http://schemas.microsoft.com/office/powerpoint/2010/main" val="1900564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048310-65DE-E11E-EC35-48FDF71827E4}"/>
              </a:ext>
            </a:extLst>
          </p:cNvPr>
          <p:cNvSpPr>
            <a:spLocks noGrp="1"/>
          </p:cNvSpPr>
          <p:nvPr>
            <p:ph idx="1"/>
          </p:nvPr>
        </p:nvSpPr>
        <p:spPr>
          <a:xfrm>
            <a:off x="581192" y="879231"/>
            <a:ext cx="11029615" cy="5644661"/>
          </a:xfrm>
        </p:spPr>
        <p:txBody>
          <a:bodyPr>
            <a:noAutofit/>
          </a:bodyPr>
          <a:lstStyle/>
          <a:p>
            <a:pPr marL="342900" indent="-342900">
              <a:buFont typeface="+mj-lt"/>
              <a:buAutoNum type="arabicPeriod" startAt="41"/>
            </a:pPr>
            <a:r>
              <a:rPr lang="en-IN" sz="1400" dirty="0">
                <a:latin typeface="DM Sans" pitchFamily="2" charset="0"/>
              </a:rPr>
              <a:t>#Second Frame</a:t>
            </a:r>
          </a:p>
          <a:p>
            <a:pPr marL="342900" indent="-342900">
              <a:buFont typeface="+mj-lt"/>
              <a:buAutoNum type="arabicPeriod" startAt="41"/>
            </a:pPr>
            <a:r>
              <a:rPr lang="en-IN" sz="1400" dirty="0">
                <a:latin typeface="DM Sans" pitchFamily="2" charset="0"/>
              </a:rPr>
              <a:t>frame2=Frame(</a:t>
            </a:r>
            <a:r>
              <a:rPr lang="en-IN" sz="1400" dirty="0" err="1">
                <a:latin typeface="DM Sans" pitchFamily="2" charset="0"/>
              </a:rPr>
              <a:t>root,bd</a:t>
            </a:r>
            <a:r>
              <a:rPr lang="en-IN" sz="1400" dirty="0">
                <a:latin typeface="DM Sans" pitchFamily="2" charset="0"/>
              </a:rPr>
              <a:t>=3,width=340,height=280,bg="</a:t>
            </a:r>
            <a:r>
              <a:rPr lang="en-IN" sz="1400" dirty="0" err="1">
                <a:latin typeface="DM Sans" pitchFamily="2" charset="0"/>
              </a:rPr>
              <a:t>white",relief</a:t>
            </a:r>
            <a:r>
              <a:rPr lang="en-IN" sz="1400" dirty="0">
                <a:latin typeface="DM Sans" pitchFamily="2" charset="0"/>
              </a:rPr>
              <a:t>=GROOVE)</a:t>
            </a:r>
          </a:p>
          <a:p>
            <a:pPr marL="342900" indent="-342900">
              <a:buFont typeface="+mj-lt"/>
              <a:buAutoNum type="arabicPeriod" startAt="41"/>
            </a:pPr>
            <a:r>
              <a:rPr lang="en-IN" sz="1400" dirty="0">
                <a:latin typeface="DM Sans" pitchFamily="2" charset="0"/>
              </a:rPr>
              <a:t>frame2.place(x=350,y=80)</a:t>
            </a:r>
          </a:p>
          <a:p>
            <a:pPr marL="342900" indent="-342900">
              <a:buFont typeface="+mj-lt"/>
              <a:buAutoNum type="arabicPeriod" startAt="41"/>
            </a:pPr>
            <a:r>
              <a:rPr lang="en-IN" sz="1400" dirty="0">
                <a:latin typeface="DM Sans" pitchFamily="2" charset="0"/>
              </a:rPr>
              <a:t>text1=Text(frame2,font="</a:t>
            </a:r>
            <a:r>
              <a:rPr lang="en-IN" sz="1400" dirty="0" err="1">
                <a:latin typeface="DM Sans" pitchFamily="2" charset="0"/>
              </a:rPr>
              <a:t>Robote</a:t>
            </a:r>
            <a:r>
              <a:rPr lang="en-IN" sz="1400" dirty="0">
                <a:latin typeface="DM Sans" pitchFamily="2" charset="0"/>
              </a:rPr>
              <a:t> 20",bg="white",</a:t>
            </a:r>
            <a:r>
              <a:rPr lang="en-IN" sz="1400" dirty="0" err="1">
                <a:latin typeface="DM Sans" pitchFamily="2" charset="0"/>
              </a:rPr>
              <a:t>fg</a:t>
            </a:r>
            <a:r>
              <a:rPr lang="en-IN" sz="1400" dirty="0">
                <a:latin typeface="DM Sans" pitchFamily="2" charset="0"/>
              </a:rPr>
              <a:t>="</a:t>
            </a:r>
            <a:r>
              <a:rPr lang="en-IN" sz="1400" dirty="0" err="1">
                <a:latin typeface="DM Sans" pitchFamily="2" charset="0"/>
              </a:rPr>
              <a:t>black",relief</a:t>
            </a:r>
            <a:r>
              <a:rPr lang="en-IN" sz="1400" dirty="0">
                <a:latin typeface="DM Sans" pitchFamily="2" charset="0"/>
              </a:rPr>
              <a:t>=</a:t>
            </a:r>
            <a:r>
              <a:rPr lang="en-IN" sz="1400" dirty="0" err="1">
                <a:latin typeface="DM Sans" pitchFamily="2" charset="0"/>
              </a:rPr>
              <a:t>GROOVE,wrap</a:t>
            </a:r>
            <a:r>
              <a:rPr lang="en-IN" sz="1400" dirty="0">
                <a:latin typeface="DM Sans" pitchFamily="2" charset="0"/>
              </a:rPr>
              <a:t>=WORD)</a:t>
            </a:r>
          </a:p>
          <a:p>
            <a:pPr marL="342900" indent="-342900">
              <a:buFont typeface="+mj-lt"/>
              <a:buAutoNum type="arabicPeriod" startAt="41"/>
            </a:pPr>
            <a:r>
              <a:rPr lang="en-IN" sz="1400" dirty="0">
                <a:latin typeface="DM Sans" pitchFamily="2" charset="0"/>
              </a:rPr>
              <a:t>text1.place(x=0,y=0,width=320,height=295)</a:t>
            </a:r>
          </a:p>
          <a:p>
            <a:pPr marL="342900" indent="-342900">
              <a:buFont typeface="+mj-lt"/>
              <a:buAutoNum type="arabicPeriod" startAt="41"/>
            </a:pPr>
            <a:r>
              <a:rPr lang="en-IN" sz="1400" dirty="0">
                <a:latin typeface="DM Sans" pitchFamily="2" charset="0"/>
              </a:rPr>
              <a:t>scrollbar1=Scrollbar(frame2)</a:t>
            </a:r>
          </a:p>
          <a:p>
            <a:pPr marL="342900" indent="-342900">
              <a:buFont typeface="+mj-lt"/>
              <a:buAutoNum type="arabicPeriod" startAt="41"/>
            </a:pPr>
            <a:r>
              <a:rPr lang="en-IN" sz="1400" dirty="0">
                <a:latin typeface="DM Sans" pitchFamily="2" charset="0"/>
              </a:rPr>
              <a:t>scrollbar1.place(x=320,y=0,height=300)</a:t>
            </a:r>
          </a:p>
          <a:p>
            <a:pPr marL="342900" indent="-342900">
              <a:buFont typeface="+mj-lt"/>
              <a:buAutoNum type="arabicPeriod" startAt="41"/>
            </a:pPr>
            <a:r>
              <a:rPr lang="en-IN" sz="1400" dirty="0">
                <a:latin typeface="DM Sans" pitchFamily="2" charset="0"/>
              </a:rPr>
              <a:t>scrollbar1.configure(command=text1.yview)</a:t>
            </a:r>
          </a:p>
          <a:p>
            <a:pPr marL="342900" indent="-342900">
              <a:buFont typeface="+mj-lt"/>
              <a:buAutoNum type="arabicPeriod" startAt="41"/>
            </a:pPr>
            <a:r>
              <a:rPr lang="en-IN" sz="1400" dirty="0">
                <a:latin typeface="DM Sans" pitchFamily="2" charset="0"/>
              </a:rPr>
              <a:t>text1.configure(</a:t>
            </a:r>
            <a:r>
              <a:rPr lang="en-IN" sz="1400" dirty="0" err="1">
                <a:latin typeface="DM Sans" pitchFamily="2" charset="0"/>
              </a:rPr>
              <a:t>yscrollcommand</a:t>
            </a:r>
            <a:r>
              <a:rPr lang="en-IN" sz="1400" dirty="0">
                <a:latin typeface="DM Sans" pitchFamily="2" charset="0"/>
              </a:rPr>
              <a:t>=scrollbar1.set)</a:t>
            </a:r>
          </a:p>
          <a:p>
            <a:pPr marL="342900" indent="-342900">
              <a:buFont typeface="+mj-lt"/>
              <a:buAutoNum type="arabicPeriod" startAt="41"/>
            </a:pPr>
            <a:r>
              <a:rPr lang="en-IN" sz="1400" dirty="0">
                <a:latin typeface="DM Sans" pitchFamily="2" charset="0"/>
              </a:rPr>
              <a:t>#Third Frame</a:t>
            </a:r>
          </a:p>
          <a:p>
            <a:pPr marL="342900" indent="-342900">
              <a:buFont typeface="+mj-lt"/>
              <a:buAutoNum type="arabicPeriod" startAt="41"/>
            </a:pPr>
            <a:r>
              <a:rPr lang="en-IN" sz="1400" dirty="0">
                <a:latin typeface="DM Sans" pitchFamily="2" charset="0"/>
              </a:rPr>
              <a:t>frame3=Frame(</a:t>
            </a:r>
            <a:r>
              <a:rPr lang="en-IN" sz="1400" dirty="0" err="1">
                <a:latin typeface="DM Sans" pitchFamily="2" charset="0"/>
              </a:rPr>
              <a:t>root,bd</a:t>
            </a:r>
            <a:r>
              <a:rPr lang="en-IN" sz="1400" dirty="0">
                <a:latin typeface="DM Sans" pitchFamily="2" charset="0"/>
              </a:rPr>
              <a:t>=3,bg="#2f4155",width=330,height=100,relief=GROOVE)</a:t>
            </a:r>
          </a:p>
          <a:p>
            <a:pPr marL="342900" indent="-342900">
              <a:buFont typeface="+mj-lt"/>
              <a:buAutoNum type="arabicPeriod" startAt="41"/>
            </a:pPr>
            <a:r>
              <a:rPr lang="en-IN" sz="1400" dirty="0">
                <a:latin typeface="DM Sans" pitchFamily="2" charset="0"/>
              </a:rPr>
              <a:t>frame3.place(x=10,y=370)</a:t>
            </a:r>
          </a:p>
          <a:p>
            <a:pPr marL="342900" indent="-342900">
              <a:buFont typeface="+mj-lt"/>
              <a:buAutoNum type="arabicPeriod" startAt="41"/>
            </a:pPr>
            <a:r>
              <a:rPr lang="en-IN" sz="1400" dirty="0">
                <a:latin typeface="DM Sans" pitchFamily="2" charset="0"/>
              </a:rPr>
              <a:t>Button(frame3,text="Open </a:t>
            </a:r>
            <a:r>
              <a:rPr lang="en-IN" sz="1400" dirty="0" err="1">
                <a:latin typeface="DM Sans" pitchFamily="2" charset="0"/>
              </a:rPr>
              <a:t>Image",width</a:t>
            </a:r>
            <a:r>
              <a:rPr lang="en-IN" sz="1400" dirty="0">
                <a:latin typeface="DM Sans" pitchFamily="2" charset="0"/>
              </a:rPr>
              <a:t>=10,height=2,font="arial 14 </a:t>
            </a:r>
            <a:r>
              <a:rPr lang="en-IN" sz="1400" dirty="0" err="1">
                <a:latin typeface="DM Sans" pitchFamily="2" charset="0"/>
              </a:rPr>
              <a:t>bold",command</a:t>
            </a:r>
            <a:r>
              <a:rPr lang="en-IN" sz="1400" dirty="0">
                <a:latin typeface="DM Sans" pitchFamily="2" charset="0"/>
              </a:rPr>
              <a:t>=</a:t>
            </a:r>
            <a:r>
              <a:rPr lang="en-IN" sz="1400" dirty="0" err="1">
                <a:latin typeface="DM Sans" pitchFamily="2" charset="0"/>
              </a:rPr>
              <a:t>Showimage</a:t>
            </a:r>
            <a:r>
              <a:rPr lang="en-IN" sz="1400" dirty="0">
                <a:latin typeface="DM Sans" pitchFamily="2" charset="0"/>
              </a:rPr>
              <a:t>).place(x=20,y=30)</a:t>
            </a:r>
          </a:p>
          <a:p>
            <a:pPr marL="342900" indent="-342900">
              <a:buFont typeface="+mj-lt"/>
              <a:buAutoNum type="arabicPeriod" startAt="41"/>
            </a:pPr>
            <a:r>
              <a:rPr lang="en-IN" sz="1400" dirty="0">
                <a:latin typeface="DM Sans" pitchFamily="2" charset="0"/>
              </a:rPr>
              <a:t>Button(frame3,text="Save </a:t>
            </a:r>
            <a:r>
              <a:rPr lang="en-IN" sz="1400" dirty="0" err="1">
                <a:latin typeface="DM Sans" pitchFamily="2" charset="0"/>
              </a:rPr>
              <a:t>Image",width</a:t>
            </a:r>
            <a:r>
              <a:rPr lang="en-IN" sz="1400" dirty="0">
                <a:latin typeface="DM Sans" pitchFamily="2" charset="0"/>
              </a:rPr>
              <a:t>=10,height=2,font="arial 14 </a:t>
            </a:r>
            <a:r>
              <a:rPr lang="en-IN" sz="1400" dirty="0" err="1">
                <a:latin typeface="DM Sans" pitchFamily="2" charset="0"/>
              </a:rPr>
              <a:t>bold",command</a:t>
            </a:r>
            <a:r>
              <a:rPr lang="en-IN" sz="1400" dirty="0">
                <a:latin typeface="DM Sans" pitchFamily="2" charset="0"/>
              </a:rPr>
              <a:t>=Save).place(x=180,y=30)</a:t>
            </a:r>
          </a:p>
          <a:p>
            <a:pPr marL="342900" indent="-342900">
              <a:buFont typeface="+mj-lt"/>
              <a:buAutoNum type="arabicPeriod" startAt="41"/>
            </a:pPr>
            <a:r>
              <a:rPr lang="en-IN" sz="1400" dirty="0">
                <a:latin typeface="DM Sans" pitchFamily="2" charset="0"/>
              </a:rPr>
              <a:t>Label(frame3,text="Picture, Image, Photo File",</a:t>
            </a:r>
            <a:r>
              <a:rPr lang="en-IN" sz="1400" dirty="0" err="1">
                <a:latin typeface="DM Sans" pitchFamily="2" charset="0"/>
              </a:rPr>
              <a:t>bg</a:t>
            </a:r>
            <a:r>
              <a:rPr lang="en-IN" sz="1400" dirty="0">
                <a:latin typeface="DM Sans" pitchFamily="2" charset="0"/>
              </a:rPr>
              <a:t>="#2f4155",fg="yellow").place(x=20,y=5)</a:t>
            </a:r>
          </a:p>
          <a:p>
            <a:pPr marL="342900" indent="-342900">
              <a:buFont typeface="+mj-lt"/>
              <a:buAutoNum type="arabicPeriod" startAt="41"/>
            </a:pPr>
            <a:endParaRPr lang="en-IN" sz="1400" dirty="0">
              <a:latin typeface="DM Sans" pitchFamily="2" charset="0"/>
            </a:endParaRPr>
          </a:p>
        </p:txBody>
      </p:sp>
    </p:spTree>
    <p:extLst>
      <p:ext uri="{BB962C8B-B14F-4D97-AF65-F5344CB8AC3E}">
        <p14:creationId xmlns:p14="http://schemas.microsoft.com/office/powerpoint/2010/main" val="463329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3E6287-5F73-5DE6-8949-25D61D6BEC02}"/>
              </a:ext>
            </a:extLst>
          </p:cNvPr>
          <p:cNvSpPr>
            <a:spLocks noGrp="1"/>
          </p:cNvSpPr>
          <p:nvPr>
            <p:ph idx="1"/>
          </p:nvPr>
        </p:nvSpPr>
        <p:spPr>
          <a:xfrm>
            <a:off x="581192" y="791308"/>
            <a:ext cx="11029615" cy="5486400"/>
          </a:xfrm>
        </p:spPr>
        <p:txBody>
          <a:bodyPr>
            <a:normAutofit/>
          </a:bodyPr>
          <a:lstStyle/>
          <a:p>
            <a:pPr marL="342900" indent="-342900">
              <a:buFont typeface="+mj-lt"/>
              <a:buAutoNum type="arabicPeriod" startAt="56"/>
            </a:pPr>
            <a:r>
              <a:rPr lang="en-IN" sz="1400" dirty="0">
                <a:latin typeface="DM Sans" pitchFamily="2" charset="0"/>
              </a:rPr>
              <a:t>#Fourth Frame</a:t>
            </a:r>
          </a:p>
          <a:p>
            <a:pPr marL="342900" indent="-342900">
              <a:buFont typeface="+mj-lt"/>
              <a:buAutoNum type="arabicPeriod" startAt="56"/>
            </a:pPr>
            <a:r>
              <a:rPr lang="en-IN" sz="1400" dirty="0">
                <a:latin typeface="DM Sans" pitchFamily="2" charset="0"/>
              </a:rPr>
              <a:t>frame4=Frame(</a:t>
            </a:r>
            <a:r>
              <a:rPr lang="en-IN" sz="1400" dirty="0" err="1">
                <a:latin typeface="DM Sans" pitchFamily="2" charset="0"/>
              </a:rPr>
              <a:t>root,bd</a:t>
            </a:r>
            <a:r>
              <a:rPr lang="en-IN" sz="1400" dirty="0">
                <a:latin typeface="DM Sans" pitchFamily="2" charset="0"/>
              </a:rPr>
              <a:t>=3,bg="#2f4155",width=330,height=100,relief=GROOVE)</a:t>
            </a:r>
          </a:p>
          <a:p>
            <a:pPr marL="342900" indent="-342900">
              <a:buFont typeface="+mj-lt"/>
              <a:buAutoNum type="arabicPeriod" startAt="56"/>
            </a:pPr>
            <a:r>
              <a:rPr lang="en-IN" sz="1400" dirty="0">
                <a:latin typeface="DM Sans" pitchFamily="2" charset="0"/>
              </a:rPr>
              <a:t>frame4.place(x=360,y=370)</a:t>
            </a:r>
          </a:p>
          <a:p>
            <a:pPr marL="342900" indent="-342900">
              <a:buFont typeface="+mj-lt"/>
              <a:buAutoNum type="arabicPeriod" startAt="56"/>
            </a:pPr>
            <a:r>
              <a:rPr lang="en-IN" sz="1400" dirty="0">
                <a:latin typeface="DM Sans" pitchFamily="2" charset="0"/>
              </a:rPr>
              <a:t>Button(frame4,text="Hide </a:t>
            </a:r>
            <a:r>
              <a:rPr lang="en-IN" sz="1400" dirty="0" err="1">
                <a:latin typeface="DM Sans" pitchFamily="2" charset="0"/>
              </a:rPr>
              <a:t>Data",width</a:t>
            </a:r>
            <a:r>
              <a:rPr lang="en-IN" sz="1400" dirty="0">
                <a:latin typeface="DM Sans" pitchFamily="2" charset="0"/>
              </a:rPr>
              <a:t>=10,height=2,font="arial 14 </a:t>
            </a:r>
            <a:r>
              <a:rPr lang="en-IN" sz="1400" dirty="0" err="1">
                <a:latin typeface="DM Sans" pitchFamily="2" charset="0"/>
              </a:rPr>
              <a:t>bold",command</a:t>
            </a:r>
            <a:r>
              <a:rPr lang="en-IN" sz="1400" dirty="0">
                <a:latin typeface="DM Sans" pitchFamily="2" charset="0"/>
              </a:rPr>
              <a:t>=Hide).place(x=20,y=30)</a:t>
            </a:r>
          </a:p>
          <a:p>
            <a:pPr marL="342900" indent="-342900">
              <a:buFont typeface="+mj-lt"/>
              <a:buAutoNum type="arabicPeriod" startAt="56"/>
            </a:pPr>
            <a:r>
              <a:rPr lang="en-IN" sz="1400" dirty="0">
                <a:latin typeface="DM Sans" pitchFamily="2" charset="0"/>
              </a:rPr>
              <a:t>Button(frame4,text="Show </a:t>
            </a:r>
            <a:r>
              <a:rPr lang="en-IN" sz="1400" dirty="0" err="1">
                <a:latin typeface="DM Sans" pitchFamily="2" charset="0"/>
              </a:rPr>
              <a:t>Data",width</a:t>
            </a:r>
            <a:r>
              <a:rPr lang="en-IN" sz="1400" dirty="0">
                <a:latin typeface="DM Sans" pitchFamily="2" charset="0"/>
              </a:rPr>
              <a:t>=10,height=2,font="arial 14 </a:t>
            </a:r>
            <a:r>
              <a:rPr lang="en-IN" sz="1400" dirty="0" err="1">
                <a:latin typeface="DM Sans" pitchFamily="2" charset="0"/>
              </a:rPr>
              <a:t>bold",command</a:t>
            </a:r>
            <a:r>
              <a:rPr lang="en-IN" sz="1400" dirty="0">
                <a:latin typeface="DM Sans" pitchFamily="2" charset="0"/>
              </a:rPr>
              <a:t>=Show).place(x=180,y=30)</a:t>
            </a:r>
          </a:p>
          <a:p>
            <a:pPr marL="342900" indent="-342900">
              <a:buFont typeface="+mj-lt"/>
              <a:buAutoNum type="arabicPeriod" startAt="56"/>
            </a:pPr>
            <a:r>
              <a:rPr lang="en-IN" sz="1400" dirty="0">
                <a:latin typeface="DM Sans" pitchFamily="2" charset="0"/>
              </a:rPr>
              <a:t>Label(frame4,text="Picture, Image, Photo File",</a:t>
            </a:r>
            <a:r>
              <a:rPr lang="en-IN" sz="1400" dirty="0" err="1">
                <a:latin typeface="DM Sans" pitchFamily="2" charset="0"/>
              </a:rPr>
              <a:t>bg</a:t>
            </a:r>
            <a:r>
              <a:rPr lang="en-IN" sz="1400" dirty="0">
                <a:latin typeface="DM Sans" pitchFamily="2" charset="0"/>
              </a:rPr>
              <a:t>="#2f4155",fg="yellow").place(x=20,y=5)</a:t>
            </a:r>
          </a:p>
          <a:p>
            <a:pPr marL="342900" indent="-342900">
              <a:buFont typeface="+mj-lt"/>
              <a:buAutoNum type="arabicPeriod" startAt="56"/>
            </a:pPr>
            <a:endParaRPr lang="en-IN" sz="1400" dirty="0">
              <a:latin typeface="DM Sans" pitchFamily="2" charset="0"/>
            </a:endParaRPr>
          </a:p>
          <a:p>
            <a:pPr marL="342900" indent="-342900">
              <a:buFont typeface="+mj-lt"/>
              <a:buAutoNum type="arabicPeriod" startAt="56"/>
            </a:pPr>
            <a:r>
              <a:rPr lang="en-IN" sz="1400" dirty="0" err="1">
                <a:latin typeface="DM Sans" pitchFamily="2" charset="0"/>
              </a:rPr>
              <a:t>root.mainloop</a:t>
            </a:r>
            <a:r>
              <a:rPr lang="en-IN" sz="1400" dirty="0">
                <a:latin typeface="DM Sans" pitchFamily="2" charset="0"/>
              </a:rPr>
              <a:t>()</a:t>
            </a:r>
          </a:p>
          <a:p>
            <a:endParaRPr lang="en-IN" dirty="0"/>
          </a:p>
        </p:txBody>
      </p:sp>
    </p:spTree>
    <p:extLst>
      <p:ext uri="{BB962C8B-B14F-4D97-AF65-F5344CB8AC3E}">
        <p14:creationId xmlns:p14="http://schemas.microsoft.com/office/powerpoint/2010/main" val="2828838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493812"/>
            <a:ext cx="11029616" cy="1188720"/>
          </a:xfrm>
        </p:spPr>
        <p:txBody>
          <a:bodyPr anchor="ctr"/>
          <a:lstStyle/>
          <a:p>
            <a:r>
              <a:rPr lang="en-US"/>
              <a:t>How did you customize the project and make it your own</a:t>
            </a:r>
          </a:p>
        </p:txBody>
      </p:sp>
      <p:pic>
        <p:nvPicPr>
          <p:cNvPr id="5" name="Content Placeholder 4">
            <a:extLst>
              <a:ext uri="{FF2B5EF4-FFF2-40B4-BE49-F238E27FC236}">
                <a16:creationId xmlns:a16="http://schemas.microsoft.com/office/drawing/2014/main" id="{41722A42-502F-C6CD-9849-979558FA3903}"/>
              </a:ext>
            </a:extLst>
          </p:cNvPr>
          <p:cNvPicPr>
            <a:picLocks noGrp="1" noChangeAspect="1"/>
          </p:cNvPicPr>
          <p:nvPr>
            <p:ph idx="1"/>
          </p:nvPr>
        </p:nvPicPr>
        <p:blipFill>
          <a:blip r:embed="rId2"/>
          <a:stretch>
            <a:fillRect/>
          </a:stretch>
        </p:blipFill>
        <p:spPr>
          <a:xfrm>
            <a:off x="1058347" y="1739219"/>
            <a:ext cx="3335208" cy="2533843"/>
          </a:xfrm>
        </p:spPr>
      </p:pic>
      <p:pic>
        <p:nvPicPr>
          <p:cNvPr id="7" name="Picture 6">
            <a:extLst>
              <a:ext uri="{FF2B5EF4-FFF2-40B4-BE49-F238E27FC236}">
                <a16:creationId xmlns:a16="http://schemas.microsoft.com/office/drawing/2014/main" id="{CC1F146B-D591-8F1F-5016-689116589E3F}"/>
              </a:ext>
            </a:extLst>
          </p:cNvPr>
          <p:cNvPicPr>
            <a:picLocks noChangeAspect="1"/>
          </p:cNvPicPr>
          <p:nvPr/>
        </p:nvPicPr>
        <p:blipFill>
          <a:blip r:embed="rId3"/>
          <a:stretch>
            <a:fillRect/>
          </a:stretch>
        </p:blipFill>
        <p:spPr>
          <a:xfrm>
            <a:off x="7172841" y="1739219"/>
            <a:ext cx="3284611" cy="2533843"/>
          </a:xfrm>
          <a:prstGeom prst="rect">
            <a:avLst/>
          </a:prstGeom>
        </p:spPr>
      </p:pic>
      <p:sp>
        <p:nvSpPr>
          <p:cNvPr id="8" name="Arrow: Right 7">
            <a:extLst>
              <a:ext uri="{FF2B5EF4-FFF2-40B4-BE49-F238E27FC236}">
                <a16:creationId xmlns:a16="http://schemas.microsoft.com/office/drawing/2014/main" id="{A792C787-32AE-E957-EA8D-5581243D2153}"/>
              </a:ext>
            </a:extLst>
          </p:cNvPr>
          <p:cNvSpPr/>
          <p:nvPr/>
        </p:nvSpPr>
        <p:spPr>
          <a:xfrm>
            <a:off x="5266593" y="2807357"/>
            <a:ext cx="958361" cy="437004"/>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D895F747-1B18-ED9A-6BA5-27B755825CFE}"/>
              </a:ext>
            </a:extLst>
          </p:cNvPr>
          <p:cNvSpPr txBox="1"/>
          <p:nvPr/>
        </p:nvSpPr>
        <p:spPr>
          <a:xfrm>
            <a:off x="1058347" y="4862146"/>
            <a:ext cx="9399105" cy="1077218"/>
          </a:xfrm>
          <a:prstGeom prst="rect">
            <a:avLst/>
          </a:prstGeom>
          <a:noFill/>
        </p:spPr>
        <p:txBody>
          <a:bodyPr wrap="square" rtlCol="0">
            <a:spAutoFit/>
          </a:bodyPr>
          <a:lstStyle/>
          <a:p>
            <a:r>
              <a:rPr lang="en-US" sz="1600" dirty="0">
                <a:latin typeface="DM Sans" pitchFamily="2" charset="0"/>
              </a:rPr>
              <a:t>In the above image you can see that firstly I had uploaded the picture in the picture box and added some text to the text box and I can hide this text inside the image using my project. After that it will create an encrypted image in which the text is hiding and it cannot be decrypted until and unless the image is decrypted with this program. That will the validation of my project key. </a:t>
            </a:r>
          </a:p>
        </p:txBody>
      </p:sp>
    </p:spTree>
    <p:extLst>
      <p:ext uri="{BB962C8B-B14F-4D97-AF65-F5344CB8AC3E}">
        <p14:creationId xmlns:p14="http://schemas.microsoft.com/office/powerpoint/2010/main" val="3657386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493812"/>
            <a:ext cx="11029616" cy="1188720"/>
          </a:xfrm>
        </p:spPr>
        <p:txBody>
          <a:bodyPr anchor="ctr"/>
          <a:lstStyle/>
          <a:p>
            <a:r>
              <a:rPr lang="en-GB"/>
              <a:t>MODELLING</a:t>
            </a:r>
            <a:endParaRPr lang="en-US"/>
          </a:p>
        </p:txBody>
      </p:sp>
      <p:pic>
        <p:nvPicPr>
          <p:cNvPr id="5" name="Content Placeholder 4">
            <a:extLst>
              <a:ext uri="{FF2B5EF4-FFF2-40B4-BE49-F238E27FC236}">
                <a16:creationId xmlns:a16="http://schemas.microsoft.com/office/drawing/2014/main" id="{1E4A068F-F8EE-7F01-EB99-2AF9F48C5B5A}"/>
              </a:ext>
            </a:extLst>
          </p:cNvPr>
          <p:cNvPicPr>
            <a:picLocks noGrp="1" noChangeAspect="1"/>
          </p:cNvPicPr>
          <p:nvPr>
            <p:ph idx="1"/>
          </p:nvPr>
        </p:nvPicPr>
        <p:blipFill>
          <a:blip r:embed="rId2"/>
          <a:stretch>
            <a:fillRect/>
          </a:stretch>
        </p:blipFill>
        <p:spPr>
          <a:xfrm>
            <a:off x="1206827" y="1682532"/>
            <a:ext cx="10403980" cy="4701148"/>
          </a:xfrm>
        </p:spPr>
      </p:pic>
    </p:spTree>
    <p:extLst>
      <p:ext uri="{BB962C8B-B14F-4D97-AF65-F5344CB8AC3E}">
        <p14:creationId xmlns:p14="http://schemas.microsoft.com/office/powerpoint/2010/main" val="3184081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578432"/>
            <a:ext cx="11029616" cy="806357"/>
          </a:xfrm>
        </p:spPr>
        <p:txBody>
          <a:bodyPr anchor="ctr"/>
          <a:lstStyle/>
          <a:p>
            <a:r>
              <a:rPr lang="en-GB" dirty="0"/>
              <a:t>Results</a:t>
            </a:r>
            <a:endParaRPr lang="en-US" dirty="0"/>
          </a:p>
        </p:txBody>
      </p:sp>
      <p:pic>
        <p:nvPicPr>
          <p:cNvPr id="7" name="Content Placeholder 6">
            <a:extLst>
              <a:ext uri="{FF2B5EF4-FFF2-40B4-BE49-F238E27FC236}">
                <a16:creationId xmlns:a16="http://schemas.microsoft.com/office/drawing/2014/main" id="{274CA072-2BF7-A22E-D298-A58FA6EF10F7}"/>
              </a:ext>
            </a:extLst>
          </p:cNvPr>
          <p:cNvPicPr>
            <a:picLocks noGrp="1" noChangeAspect="1"/>
          </p:cNvPicPr>
          <p:nvPr>
            <p:ph idx="1"/>
          </p:nvPr>
        </p:nvPicPr>
        <p:blipFill>
          <a:blip r:embed="rId2"/>
          <a:stretch>
            <a:fillRect/>
          </a:stretch>
        </p:blipFill>
        <p:spPr>
          <a:xfrm>
            <a:off x="581191" y="1363266"/>
            <a:ext cx="2733509" cy="2065734"/>
          </a:xfrm>
        </p:spPr>
      </p:pic>
      <p:pic>
        <p:nvPicPr>
          <p:cNvPr id="11" name="Picture 10">
            <a:extLst>
              <a:ext uri="{FF2B5EF4-FFF2-40B4-BE49-F238E27FC236}">
                <a16:creationId xmlns:a16="http://schemas.microsoft.com/office/drawing/2014/main" id="{66A5A692-7253-8AE1-31D2-664CDFA46870}"/>
              </a:ext>
            </a:extLst>
          </p:cNvPr>
          <p:cNvPicPr>
            <a:picLocks noChangeAspect="1"/>
          </p:cNvPicPr>
          <p:nvPr/>
        </p:nvPicPr>
        <p:blipFill>
          <a:blip r:embed="rId3"/>
          <a:stretch>
            <a:fillRect/>
          </a:stretch>
        </p:blipFill>
        <p:spPr>
          <a:xfrm>
            <a:off x="4511601" y="1363266"/>
            <a:ext cx="3168795" cy="2065734"/>
          </a:xfrm>
          <a:prstGeom prst="rect">
            <a:avLst/>
          </a:prstGeom>
        </p:spPr>
      </p:pic>
      <p:pic>
        <p:nvPicPr>
          <p:cNvPr id="13" name="Picture 12">
            <a:extLst>
              <a:ext uri="{FF2B5EF4-FFF2-40B4-BE49-F238E27FC236}">
                <a16:creationId xmlns:a16="http://schemas.microsoft.com/office/drawing/2014/main" id="{E06AFD73-FD61-2F25-BC0E-87010AB3782B}"/>
              </a:ext>
            </a:extLst>
          </p:cNvPr>
          <p:cNvPicPr>
            <a:picLocks noChangeAspect="1"/>
          </p:cNvPicPr>
          <p:nvPr/>
        </p:nvPicPr>
        <p:blipFill>
          <a:blip r:embed="rId4"/>
          <a:stretch>
            <a:fillRect/>
          </a:stretch>
        </p:blipFill>
        <p:spPr>
          <a:xfrm>
            <a:off x="8848122" y="1371479"/>
            <a:ext cx="2762685" cy="2065735"/>
          </a:xfrm>
          <a:prstGeom prst="rect">
            <a:avLst/>
          </a:prstGeom>
        </p:spPr>
      </p:pic>
      <p:sp>
        <p:nvSpPr>
          <p:cNvPr id="14" name="Arrow: Right 13">
            <a:extLst>
              <a:ext uri="{FF2B5EF4-FFF2-40B4-BE49-F238E27FC236}">
                <a16:creationId xmlns:a16="http://schemas.microsoft.com/office/drawing/2014/main" id="{FDECE927-FEA2-F3F8-A892-A7D905241E41}"/>
              </a:ext>
            </a:extLst>
          </p:cNvPr>
          <p:cNvSpPr/>
          <p:nvPr/>
        </p:nvSpPr>
        <p:spPr>
          <a:xfrm>
            <a:off x="3572736" y="2171700"/>
            <a:ext cx="563151" cy="34312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911D1C50-2256-7144-F017-F5EE877910CA}"/>
              </a:ext>
            </a:extLst>
          </p:cNvPr>
          <p:cNvSpPr/>
          <p:nvPr/>
        </p:nvSpPr>
        <p:spPr>
          <a:xfrm>
            <a:off x="7948247" y="2171700"/>
            <a:ext cx="571500" cy="34312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3655203A-0607-659C-BD3A-19124F452EF7}"/>
              </a:ext>
            </a:extLst>
          </p:cNvPr>
          <p:cNvPicPr>
            <a:picLocks noChangeAspect="1"/>
          </p:cNvPicPr>
          <p:nvPr/>
        </p:nvPicPr>
        <p:blipFill>
          <a:blip r:embed="rId5"/>
          <a:stretch>
            <a:fillRect/>
          </a:stretch>
        </p:blipFill>
        <p:spPr>
          <a:xfrm>
            <a:off x="8911584" y="4031296"/>
            <a:ext cx="2762685" cy="2081519"/>
          </a:xfrm>
          <a:prstGeom prst="rect">
            <a:avLst/>
          </a:prstGeom>
        </p:spPr>
      </p:pic>
      <p:pic>
        <p:nvPicPr>
          <p:cNvPr id="19" name="Picture 18">
            <a:extLst>
              <a:ext uri="{FF2B5EF4-FFF2-40B4-BE49-F238E27FC236}">
                <a16:creationId xmlns:a16="http://schemas.microsoft.com/office/drawing/2014/main" id="{2C4A42E9-6A7E-FCB2-3AE7-19F85570FE2A}"/>
              </a:ext>
            </a:extLst>
          </p:cNvPr>
          <p:cNvPicPr>
            <a:picLocks noChangeAspect="1"/>
          </p:cNvPicPr>
          <p:nvPr/>
        </p:nvPicPr>
        <p:blipFill>
          <a:blip r:embed="rId6"/>
          <a:stretch>
            <a:fillRect/>
          </a:stretch>
        </p:blipFill>
        <p:spPr>
          <a:xfrm>
            <a:off x="4508454" y="4156700"/>
            <a:ext cx="3171942" cy="1733945"/>
          </a:xfrm>
          <a:prstGeom prst="rect">
            <a:avLst/>
          </a:prstGeom>
        </p:spPr>
      </p:pic>
      <p:pic>
        <p:nvPicPr>
          <p:cNvPr id="21" name="Picture 20">
            <a:extLst>
              <a:ext uri="{FF2B5EF4-FFF2-40B4-BE49-F238E27FC236}">
                <a16:creationId xmlns:a16="http://schemas.microsoft.com/office/drawing/2014/main" id="{06EF78F5-A32B-DBB3-EC46-7435B41E3463}"/>
              </a:ext>
            </a:extLst>
          </p:cNvPr>
          <p:cNvPicPr>
            <a:picLocks noChangeAspect="1"/>
          </p:cNvPicPr>
          <p:nvPr/>
        </p:nvPicPr>
        <p:blipFill>
          <a:blip r:embed="rId7"/>
          <a:stretch>
            <a:fillRect/>
          </a:stretch>
        </p:blipFill>
        <p:spPr>
          <a:xfrm>
            <a:off x="589428" y="4031296"/>
            <a:ext cx="2733509" cy="2079980"/>
          </a:xfrm>
          <a:prstGeom prst="rect">
            <a:avLst/>
          </a:prstGeom>
        </p:spPr>
      </p:pic>
      <p:sp>
        <p:nvSpPr>
          <p:cNvPr id="23" name="Arrow: Left 22">
            <a:extLst>
              <a:ext uri="{FF2B5EF4-FFF2-40B4-BE49-F238E27FC236}">
                <a16:creationId xmlns:a16="http://schemas.microsoft.com/office/drawing/2014/main" id="{E2816109-DF28-ED8E-B3D0-0E8EA71C107A}"/>
              </a:ext>
            </a:extLst>
          </p:cNvPr>
          <p:cNvSpPr/>
          <p:nvPr/>
        </p:nvSpPr>
        <p:spPr>
          <a:xfrm>
            <a:off x="7948247" y="5170806"/>
            <a:ext cx="422030" cy="272561"/>
          </a:xfrm>
          <a:prstGeom prst="lef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4" name="Arrow: Left 23">
            <a:extLst>
              <a:ext uri="{FF2B5EF4-FFF2-40B4-BE49-F238E27FC236}">
                <a16:creationId xmlns:a16="http://schemas.microsoft.com/office/drawing/2014/main" id="{8CFC1782-9D6B-6BFB-E333-DE48452DE4FE}"/>
              </a:ext>
            </a:extLst>
          </p:cNvPr>
          <p:cNvSpPr/>
          <p:nvPr/>
        </p:nvSpPr>
        <p:spPr>
          <a:xfrm>
            <a:off x="3692769" y="5235819"/>
            <a:ext cx="443118" cy="237392"/>
          </a:xfrm>
          <a:prstGeom prst="lef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2E920161-6AD1-DA3F-77B0-3D1D24A5CBE6}"/>
              </a:ext>
            </a:extLst>
          </p:cNvPr>
          <p:cNvSpPr txBox="1"/>
          <p:nvPr/>
        </p:nvSpPr>
        <p:spPr>
          <a:xfrm>
            <a:off x="610367" y="3508076"/>
            <a:ext cx="2704333" cy="523220"/>
          </a:xfrm>
          <a:prstGeom prst="rect">
            <a:avLst/>
          </a:prstGeom>
          <a:noFill/>
        </p:spPr>
        <p:txBody>
          <a:bodyPr wrap="square" rtlCol="0">
            <a:spAutoFit/>
          </a:bodyPr>
          <a:lstStyle/>
          <a:p>
            <a:r>
              <a:rPr lang="en-US" sz="1400" dirty="0"/>
              <a:t>After execution of the program the UI of the look like this.</a:t>
            </a:r>
            <a:endParaRPr lang="en-IN" sz="1400" dirty="0"/>
          </a:p>
        </p:txBody>
      </p:sp>
      <p:sp>
        <p:nvSpPr>
          <p:cNvPr id="26" name="TextBox 25">
            <a:extLst>
              <a:ext uri="{FF2B5EF4-FFF2-40B4-BE49-F238E27FC236}">
                <a16:creationId xmlns:a16="http://schemas.microsoft.com/office/drawing/2014/main" id="{70B866EF-6D21-6512-E41A-D28EBC749252}"/>
              </a:ext>
            </a:extLst>
          </p:cNvPr>
          <p:cNvSpPr txBox="1"/>
          <p:nvPr/>
        </p:nvSpPr>
        <p:spPr>
          <a:xfrm>
            <a:off x="4508454" y="3508076"/>
            <a:ext cx="3171942" cy="523220"/>
          </a:xfrm>
          <a:prstGeom prst="rect">
            <a:avLst/>
          </a:prstGeom>
          <a:noFill/>
        </p:spPr>
        <p:txBody>
          <a:bodyPr wrap="square" rtlCol="0">
            <a:spAutoFit/>
          </a:bodyPr>
          <a:lstStyle/>
          <a:p>
            <a:r>
              <a:rPr lang="en-US" sz="1400" dirty="0"/>
              <a:t>Selecting the image in which we have to encrypt the message</a:t>
            </a:r>
            <a:endParaRPr lang="en-IN" sz="1400" dirty="0"/>
          </a:p>
        </p:txBody>
      </p:sp>
      <p:sp>
        <p:nvSpPr>
          <p:cNvPr id="27" name="Arrow: Curved Left 26">
            <a:extLst>
              <a:ext uri="{FF2B5EF4-FFF2-40B4-BE49-F238E27FC236}">
                <a16:creationId xmlns:a16="http://schemas.microsoft.com/office/drawing/2014/main" id="{CC80CA62-9EFE-B6CB-722E-34B63508BF54}"/>
              </a:ext>
            </a:extLst>
          </p:cNvPr>
          <p:cNvSpPr/>
          <p:nvPr/>
        </p:nvSpPr>
        <p:spPr>
          <a:xfrm>
            <a:off x="11737731" y="3358661"/>
            <a:ext cx="350921" cy="1248507"/>
          </a:xfrm>
          <a:prstGeom prst="curvedLeftArrow">
            <a:avLst>
              <a:gd name="adj1" fmla="val 50000"/>
              <a:gd name="adj2" fmla="val 80307"/>
              <a:gd name="adj3" fmla="val 2500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solidFill>
                <a:schemeClr val="tx1"/>
              </a:solidFill>
            </a:endParaRPr>
          </a:p>
        </p:txBody>
      </p:sp>
      <p:sp>
        <p:nvSpPr>
          <p:cNvPr id="28" name="TextBox 27">
            <a:extLst>
              <a:ext uri="{FF2B5EF4-FFF2-40B4-BE49-F238E27FC236}">
                <a16:creationId xmlns:a16="http://schemas.microsoft.com/office/drawing/2014/main" id="{5FB75D07-9F7E-952C-C538-DE129E20C9DB}"/>
              </a:ext>
            </a:extLst>
          </p:cNvPr>
          <p:cNvSpPr txBox="1"/>
          <p:nvPr/>
        </p:nvSpPr>
        <p:spPr>
          <a:xfrm>
            <a:off x="8874150" y="3508076"/>
            <a:ext cx="2736657" cy="307777"/>
          </a:xfrm>
          <a:prstGeom prst="rect">
            <a:avLst/>
          </a:prstGeom>
          <a:noFill/>
        </p:spPr>
        <p:txBody>
          <a:bodyPr wrap="square" rtlCol="0">
            <a:spAutoFit/>
          </a:bodyPr>
          <a:lstStyle/>
          <a:p>
            <a:r>
              <a:rPr lang="en-US" sz="1400" dirty="0"/>
              <a:t>After selection of the image </a:t>
            </a:r>
            <a:endParaRPr lang="en-IN" sz="1400" dirty="0"/>
          </a:p>
        </p:txBody>
      </p:sp>
      <p:sp>
        <p:nvSpPr>
          <p:cNvPr id="29" name="TextBox 28">
            <a:extLst>
              <a:ext uri="{FF2B5EF4-FFF2-40B4-BE49-F238E27FC236}">
                <a16:creationId xmlns:a16="http://schemas.microsoft.com/office/drawing/2014/main" id="{2500A4F2-3276-5E44-AEF7-F07B764401E1}"/>
              </a:ext>
            </a:extLst>
          </p:cNvPr>
          <p:cNvSpPr txBox="1"/>
          <p:nvPr/>
        </p:nvSpPr>
        <p:spPr>
          <a:xfrm>
            <a:off x="8911584" y="6138781"/>
            <a:ext cx="2800119" cy="738664"/>
          </a:xfrm>
          <a:prstGeom prst="rect">
            <a:avLst/>
          </a:prstGeom>
          <a:noFill/>
        </p:spPr>
        <p:txBody>
          <a:bodyPr wrap="square" rtlCol="0">
            <a:spAutoFit/>
          </a:bodyPr>
          <a:lstStyle/>
          <a:p>
            <a:r>
              <a:rPr lang="en-US" sz="1400" dirty="0"/>
              <a:t>After entering the message we will click on the hide data and then click on the save image </a:t>
            </a:r>
            <a:endParaRPr lang="en-IN" sz="1400" dirty="0"/>
          </a:p>
        </p:txBody>
      </p:sp>
      <p:sp>
        <p:nvSpPr>
          <p:cNvPr id="30" name="TextBox 29">
            <a:extLst>
              <a:ext uri="{FF2B5EF4-FFF2-40B4-BE49-F238E27FC236}">
                <a16:creationId xmlns:a16="http://schemas.microsoft.com/office/drawing/2014/main" id="{BD046A6F-C40C-642A-CEBE-72E775EE51C0}"/>
              </a:ext>
            </a:extLst>
          </p:cNvPr>
          <p:cNvSpPr txBox="1"/>
          <p:nvPr/>
        </p:nvSpPr>
        <p:spPr>
          <a:xfrm>
            <a:off x="4508454" y="6016048"/>
            <a:ext cx="3171942" cy="738664"/>
          </a:xfrm>
          <a:prstGeom prst="rect">
            <a:avLst/>
          </a:prstGeom>
          <a:noFill/>
        </p:spPr>
        <p:txBody>
          <a:bodyPr wrap="square" rtlCol="0">
            <a:spAutoFit/>
          </a:bodyPr>
          <a:lstStyle/>
          <a:p>
            <a:r>
              <a:rPr lang="en-US" sz="1400" dirty="0"/>
              <a:t>The saved will be show in the destination folder and we will decrypt the image </a:t>
            </a:r>
            <a:endParaRPr lang="en-IN" sz="1400" dirty="0"/>
          </a:p>
        </p:txBody>
      </p:sp>
      <p:sp>
        <p:nvSpPr>
          <p:cNvPr id="31" name="TextBox 30">
            <a:extLst>
              <a:ext uri="{FF2B5EF4-FFF2-40B4-BE49-F238E27FC236}">
                <a16:creationId xmlns:a16="http://schemas.microsoft.com/office/drawing/2014/main" id="{0755F060-00E6-4464-9376-8C5F2B772791}"/>
              </a:ext>
            </a:extLst>
          </p:cNvPr>
          <p:cNvSpPr txBox="1"/>
          <p:nvPr/>
        </p:nvSpPr>
        <p:spPr>
          <a:xfrm>
            <a:off x="610367" y="6143877"/>
            <a:ext cx="2712570" cy="738664"/>
          </a:xfrm>
          <a:prstGeom prst="rect">
            <a:avLst/>
          </a:prstGeom>
          <a:noFill/>
        </p:spPr>
        <p:txBody>
          <a:bodyPr wrap="square" rtlCol="0">
            <a:spAutoFit/>
          </a:bodyPr>
          <a:lstStyle/>
          <a:p>
            <a:r>
              <a:rPr lang="en-US" sz="1400" dirty="0"/>
              <a:t>The image is showing the message which was encrypted inside the image</a:t>
            </a:r>
            <a:endParaRPr lang="en-IN" sz="1400" dirty="0"/>
          </a:p>
        </p:txBody>
      </p:sp>
    </p:spTree>
    <p:extLst>
      <p:ext uri="{BB962C8B-B14F-4D97-AF65-F5344CB8AC3E}">
        <p14:creationId xmlns:p14="http://schemas.microsoft.com/office/powerpoint/2010/main" val="3319627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493812"/>
            <a:ext cx="11029616" cy="1188720"/>
          </a:xfrm>
        </p:spPr>
        <p:txBody>
          <a:bodyPr anchor="ctr"/>
          <a:lstStyle/>
          <a:p>
            <a:r>
              <a:rPr lang="en-GB"/>
              <a:t>links</a:t>
            </a:r>
            <a:endParaRPr lang="en-US"/>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1" y="2074646"/>
            <a:ext cx="11029615" cy="3634486"/>
          </a:xfrm>
        </p:spPr>
        <p:txBody>
          <a:bodyPr/>
          <a:lstStyle/>
          <a:p>
            <a:r>
              <a:rPr lang="en-US" dirty="0">
                <a:solidFill>
                  <a:schemeClr val="tx1"/>
                </a:solidFill>
              </a:rPr>
              <a:t>Reference Links :</a:t>
            </a:r>
            <a:endParaRPr lang="en-US" dirty="0">
              <a:solidFill>
                <a:schemeClr val="tx1"/>
              </a:solidFill>
              <a:hlinkClick r:id="rId2">
                <a:extLst>
                  <a:ext uri="{A12FA001-AC4F-418D-AE19-62706E023703}">
                    <ahyp:hlinkClr xmlns:ahyp="http://schemas.microsoft.com/office/drawing/2018/hyperlinkcolor" val="tx"/>
                  </a:ext>
                </a:extLst>
              </a:hlinkClick>
            </a:endParaRPr>
          </a:p>
          <a:p>
            <a:pPr lvl="1">
              <a:buFont typeface="Wingdings" panose="05000000000000000000" pitchFamily="2" charset="2"/>
              <a:buChar char="Ø"/>
            </a:pPr>
            <a:r>
              <a:rPr lang="en-US" sz="1600" dirty="0">
                <a:solidFill>
                  <a:srgbClr val="6EAC1C"/>
                </a:solidFill>
                <a:hlinkClick r:id="rId2">
                  <a:extLst>
                    <a:ext uri="{A12FA001-AC4F-418D-AE19-62706E023703}">
                      <ahyp:hlinkClr xmlns:ahyp="http://schemas.microsoft.com/office/drawing/2018/hyperlinkcolor" val="tx"/>
                    </a:ext>
                  </a:extLst>
                </a:hlinkClick>
              </a:rPr>
              <a:t>w</a:t>
            </a:r>
            <a:r>
              <a:rPr lang="en-US" sz="1600" dirty="0">
                <a:hlinkClick r:id="rId2"/>
              </a:rPr>
              <a:t>ww.google.com</a:t>
            </a:r>
            <a:endParaRPr lang="en-US" sz="1600" dirty="0"/>
          </a:p>
          <a:p>
            <a:pPr lvl="1">
              <a:buFont typeface="Wingdings" panose="05000000000000000000" pitchFamily="2" charset="2"/>
              <a:buChar char="Ø"/>
            </a:pPr>
            <a:r>
              <a:rPr lang="en-US" sz="1600" dirty="0">
                <a:hlinkClick r:id="rId3"/>
              </a:rPr>
              <a:t>www.Wikipedia.com</a:t>
            </a:r>
            <a:endParaRPr lang="en-US" sz="1600" dirty="0"/>
          </a:p>
          <a:p>
            <a:pPr lvl="1">
              <a:buFont typeface="Wingdings" panose="05000000000000000000" pitchFamily="2" charset="2"/>
              <a:buChar char="Ø"/>
            </a:pPr>
            <a:r>
              <a:rPr lang="en-US" sz="1600" dirty="0">
                <a:hlinkClick r:id="rId4"/>
              </a:rPr>
              <a:t>www.youtube.com</a:t>
            </a:r>
            <a:endParaRPr lang="en-US" sz="1600" dirty="0"/>
          </a:p>
          <a:p>
            <a:pPr lvl="1">
              <a:buFont typeface="Wingdings" panose="05000000000000000000" pitchFamily="2" charset="2"/>
              <a:buChar char="Ø"/>
            </a:pPr>
            <a:r>
              <a:rPr lang="en-US" sz="1600" dirty="0">
                <a:hlinkClick r:id="rId5"/>
              </a:rPr>
              <a:t>https://skillsbuild.edunetworld.com/study-material-cyber-security/</a:t>
            </a:r>
            <a:endParaRPr lang="en-US" sz="1600" dirty="0"/>
          </a:p>
          <a:p>
            <a:pPr lvl="1">
              <a:buFont typeface="Wingdings" panose="05000000000000000000" pitchFamily="2" charset="2"/>
              <a:buChar char="Ø"/>
            </a:pPr>
            <a:r>
              <a:rPr lang="en-IN" sz="1600" dirty="0">
                <a:hlinkClick r:id="rId6"/>
              </a:rPr>
              <a:t>https://skillsbuild.edunetworld.com/courses/cs/steganography-hiding-message-in-an-image/</a:t>
            </a:r>
            <a:endParaRPr lang="en-US" sz="1600" dirty="0"/>
          </a:p>
          <a:p>
            <a:r>
              <a:rPr lang="en-US" dirty="0"/>
              <a:t>Project Link :</a:t>
            </a:r>
          </a:p>
          <a:p>
            <a:pPr lvl="1">
              <a:buFont typeface="Wingdings" panose="05000000000000000000" pitchFamily="2" charset="2"/>
              <a:buChar char="Ø"/>
            </a:pPr>
            <a:r>
              <a:rPr lang="en-US" sz="1600" dirty="0">
                <a:solidFill>
                  <a:schemeClr val="tx1">
                    <a:lumMod val="95000"/>
                    <a:lumOff val="5000"/>
                  </a:schemeClr>
                </a:solidFill>
              </a:rPr>
              <a:t>https://github.com/AmanJoshi1604/Text-Hider.git</a:t>
            </a:r>
          </a:p>
          <a:p>
            <a:pPr>
              <a:buFont typeface="Arial" panose="020B0604020202020204" pitchFamily="34" charset="0"/>
              <a:buChar char="•"/>
            </a:pPr>
            <a:endParaRPr lang="en-US" sz="1900" dirty="0"/>
          </a:p>
        </p:txBody>
      </p:sp>
    </p:spTree>
    <p:extLst>
      <p:ext uri="{BB962C8B-B14F-4D97-AF65-F5344CB8AC3E}">
        <p14:creationId xmlns:p14="http://schemas.microsoft.com/office/powerpoint/2010/main" val="958589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75656-29A7-B79E-EBFC-C9F6989A295D}"/>
              </a:ext>
            </a:extLst>
          </p:cNvPr>
          <p:cNvSpPr>
            <a:spLocks noGrp="1"/>
          </p:cNvSpPr>
          <p:nvPr>
            <p:ph type="title"/>
          </p:nvPr>
        </p:nvSpPr>
        <p:spPr>
          <a:xfrm>
            <a:off x="581192" y="2738804"/>
            <a:ext cx="11029616" cy="1380392"/>
          </a:xfrm>
        </p:spPr>
        <p:txBody>
          <a:bodyPr>
            <a:normAutofit/>
          </a:bodyPr>
          <a:lstStyle/>
          <a:p>
            <a:pPr algn="ctr"/>
            <a:r>
              <a:rPr lang="en-IN" sz="8000" dirty="0"/>
              <a:t>Thank you</a:t>
            </a:r>
          </a:p>
        </p:txBody>
      </p:sp>
    </p:spTree>
    <p:extLst>
      <p:ext uri="{BB962C8B-B14F-4D97-AF65-F5344CB8AC3E}">
        <p14:creationId xmlns:p14="http://schemas.microsoft.com/office/powerpoint/2010/main" val="1228974413"/>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IBM template.pptx" id="{DD7D02DF-74B2-BE46-8E60-C19E1E020CC7}" vid="{4A44C851-0219-434E-AA92-1FCB39E6E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http://www.w3.org/XML/1998/namespace"/>
    <ds:schemaRef ds:uri="71af3243-3dd4-4a8d-8c0d-dd76da1f02a5"/>
    <ds:schemaRef ds:uri="http://purl.org/dc/elements/1.1/"/>
    <ds:schemaRef ds:uri="http://schemas.microsoft.com/office/2006/documentManagement/types"/>
    <ds:schemaRef ds:uri="http://schemas.microsoft.com/office/infopath/2007/PartnerControls"/>
    <ds:schemaRef ds:uri="http://schemas.microsoft.com/office/2006/metadata/properties"/>
    <ds:schemaRef ds:uri="16c05727-aa75-4e4a-9b5f-8a80a1165891"/>
    <ds:schemaRef ds:uri="http://purl.org/dc/term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41E7CA09-9778-4414-AE97-8064B12DA30E}">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883</TotalTime>
  <Words>2053</Words>
  <Application>Microsoft Office PowerPoint</Application>
  <PresentationFormat>Widescreen</PresentationFormat>
  <Paragraphs>123</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DM Sans</vt:lpstr>
      <vt:lpstr>Franklin Gothic Book</vt:lpstr>
      <vt:lpstr>Franklin Gothic Demi</vt:lpstr>
      <vt:lpstr>Wingdings</vt:lpstr>
      <vt:lpstr>Wingdings 2</vt:lpstr>
      <vt:lpstr>DividendVTI</vt:lpstr>
      <vt:lpstr>Student Details</vt:lpstr>
      <vt:lpstr>PROJECT TITLE/Problem Statement </vt:lpstr>
      <vt:lpstr>AGENDA</vt:lpstr>
      <vt:lpstr>PROJECT  OVERVIEW</vt:lpstr>
      <vt:lpstr>PowerPoint Presentation</vt:lpstr>
      <vt:lpstr>PowerPoint Presentation</vt:lpstr>
      <vt:lpstr>WHO ARE THE END USERS of this project?</vt:lpstr>
      <vt:lpstr> YOUR SOLUTION AND ITS VALUE PROPOSITION</vt:lpstr>
      <vt:lpstr>PowerPoint Presentation</vt:lpstr>
      <vt:lpstr>PowerPoint Presentation</vt:lpstr>
      <vt:lpstr>PowerPoint Presentation</vt:lpstr>
      <vt:lpstr>PowerPoint Presentation</vt:lpstr>
      <vt:lpstr>How did you customize the project and make it your own</vt:lpstr>
      <vt:lpstr>MODELLING</vt:lpstr>
      <vt:lpstr>Results</vt:lpstr>
      <vt:lpstr>links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Aman Joshi</cp:lastModifiedBy>
  <cp:revision>5</cp:revision>
  <dcterms:created xsi:type="dcterms:W3CDTF">2021-05-26T16:50:10Z</dcterms:created>
  <dcterms:modified xsi:type="dcterms:W3CDTF">2023-11-26T09:27:58Z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